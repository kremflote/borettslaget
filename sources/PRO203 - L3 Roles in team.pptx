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1" r:id="rId23"/>
    <p:sldId id="290" r:id="rId24"/>
    <p:sldId id="277" r:id="rId25"/>
    <p:sldId id="278" r:id="rId26"/>
    <p:sldId id="279" r:id="rId27"/>
    <p:sldId id="280" r:id="rId28"/>
    <p:sldId id="281" r:id="rId29"/>
    <p:sldId id="282" r:id="rId30"/>
    <p:sldId id="285" r:id="rId31"/>
    <p:sldId id="283" r:id="rId32"/>
    <p:sldId id="284" r:id="rId33"/>
    <p:sldId id="286" r:id="rId34"/>
    <p:sldId id="289" r:id="rId35"/>
    <p:sldId id="287" r:id="rId36"/>
    <p:sldId id="288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345F2-C995-4D2E-B45F-1E93D0449C70}" v="3" dt="2026-09-14T05:12:11.0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75039" autoAdjust="0"/>
  </p:normalViewPr>
  <p:slideViewPr>
    <p:cSldViewPr snapToGrid="0">
      <p:cViewPr varScale="1">
        <p:scale>
          <a:sx n="66" d="100"/>
          <a:sy n="66" d="100"/>
        </p:scale>
        <p:origin x="1050" y="4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i Kjærnes" userId="2aac52dfc3eafafe" providerId="LiveId" clId="{8BCAA6E2-8B86-4597-90BC-10CBF3106090}"/>
    <pc:docChg chg="undo custSel addSld delSld modSld sldOrd">
      <pc:chgData name="Nicolai Kjærnes" userId="2aac52dfc3eafafe" providerId="LiveId" clId="{8BCAA6E2-8B86-4597-90BC-10CBF3106090}" dt="2026-09-14T05:12:18.875" v="1122" actId="20577"/>
      <pc:docMkLst>
        <pc:docMk/>
      </pc:docMkLst>
      <pc:sldChg chg="modSp mod">
        <pc:chgData name="Nicolai Kjærnes" userId="2aac52dfc3eafafe" providerId="LiveId" clId="{8BCAA6E2-8B86-4597-90BC-10CBF3106090}" dt="2026-09-13T13:39:14.523" v="1027" actId="20577"/>
        <pc:sldMkLst>
          <pc:docMk/>
          <pc:sldMk cId="0" sldId="261"/>
        </pc:sldMkLst>
        <pc:spChg chg="mod">
          <ac:chgData name="Nicolai Kjærnes" userId="2aac52dfc3eafafe" providerId="LiveId" clId="{8BCAA6E2-8B86-4597-90BC-10CBF3106090}" dt="2026-09-13T13:39:14.523" v="1027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Nicolai Kjærnes" userId="2aac52dfc3eafafe" providerId="LiveId" clId="{8BCAA6E2-8B86-4597-90BC-10CBF3106090}" dt="2026-09-13T14:14:10.571" v="1041" actId="20577"/>
        <pc:sldMkLst>
          <pc:docMk/>
          <pc:sldMk cId="0" sldId="263"/>
        </pc:sldMkLst>
        <pc:spChg chg="mod">
          <ac:chgData name="Nicolai Kjærnes" userId="2aac52dfc3eafafe" providerId="LiveId" clId="{8BCAA6E2-8B86-4597-90BC-10CBF3106090}" dt="2026-09-13T14:14:10.571" v="1041" actId="20577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Nicolai Kjærnes" userId="2aac52dfc3eafafe" providerId="LiveId" clId="{8BCAA6E2-8B86-4597-90BC-10CBF3106090}" dt="2026-09-13T14:17:17.027" v="1053" actId="20577"/>
        <pc:sldMkLst>
          <pc:docMk/>
          <pc:sldMk cId="0" sldId="266"/>
        </pc:sldMkLst>
        <pc:spChg chg="mod">
          <ac:chgData name="Nicolai Kjærnes" userId="2aac52dfc3eafafe" providerId="LiveId" clId="{8BCAA6E2-8B86-4597-90BC-10CBF3106090}" dt="2026-09-13T14:17:17.027" v="1053" actId="20577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Nicolai Kjærnes" userId="2aac52dfc3eafafe" providerId="LiveId" clId="{8BCAA6E2-8B86-4597-90BC-10CBF3106090}" dt="2026-09-14T05:12:18.875" v="1122" actId="20577"/>
        <pc:sldMkLst>
          <pc:docMk/>
          <pc:sldMk cId="0" sldId="276"/>
        </pc:sldMkLst>
        <pc:spChg chg="mod">
          <ac:chgData name="Nicolai Kjærnes" userId="2aac52dfc3eafafe" providerId="LiveId" clId="{8BCAA6E2-8B86-4597-90BC-10CBF3106090}" dt="2026-09-14T05:12:18.875" v="1122" actId="20577"/>
          <ac:spMkLst>
            <pc:docMk/>
            <pc:sldMk cId="0" sldId="276"/>
            <ac:spMk id="8" creationId="{00000000-0000-0000-0000-000000000000}"/>
          </ac:spMkLst>
        </pc:spChg>
      </pc:sldChg>
      <pc:sldChg chg="modSp mod">
        <pc:chgData name="Nicolai Kjærnes" userId="2aac52dfc3eafafe" providerId="LiveId" clId="{8BCAA6E2-8B86-4597-90BC-10CBF3106090}" dt="2026-09-13T15:17:43.231" v="1091" actId="20577"/>
        <pc:sldMkLst>
          <pc:docMk/>
          <pc:sldMk cId="0" sldId="278"/>
        </pc:sldMkLst>
        <pc:spChg chg="mod">
          <ac:chgData name="Nicolai Kjærnes" userId="2aac52dfc3eafafe" providerId="LiveId" clId="{8BCAA6E2-8B86-4597-90BC-10CBF3106090}" dt="2026-09-13T15:17:43.231" v="1091" actId="2057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Nicolai Kjærnes" userId="2aac52dfc3eafafe" providerId="LiveId" clId="{8BCAA6E2-8B86-4597-90BC-10CBF3106090}" dt="2026-09-13T15:19:04.056" v="1093" actId="1076"/>
        <pc:sldMkLst>
          <pc:docMk/>
          <pc:sldMk cId="0" sldId="281"/>
        </pc:sldMkLst>
        <pc:grpChg chg="mod">
          <ac:chgData name="Nicolai Kjærnes" userId="2aac52dfc3eafafe" providerId="LiveId" clId="{8BCAA6E2-8B86-4597-90BC-10CBF3106090}" dt="2026-09-13T15:19:04.056" v="1093" actId="1076"/>
          <ac:grpSpMkLst>
            <pc:docMk/>
            <pc:sldMk cId="0" sldId="281"/>
            <ac:grpSpMk id="3" creationId="{00000000-0000-0000-0000-000000000000}"/>
          </ac:grpSpMkLst>
        </pc:grpChg>
      </pc:sldChg>
      <pc:sldChg chg="modSp mod">
        <pc:chgData name="Nicolai Kjærnes" userId="2aac52dfc3eafafe" providerId="LiveId" clId="{8BCAA6E2-8B86-4597-90BC-10CBF3106090}" dt="2026-09-13T15:19:32.289" v="1094" actId="1076"/>
        <pc:sldMkLst>
          <pc:docMk/>
          <pc:sldMk cId="0" sldId="283"/>
        </pc:sldMkLst>
        <pc:picChg chg="mod">
          <ac:chgData name="Nicolai Kjærnes" userId="2aac52dfc3eafafe" providerId="LiveId" clId="{8BCAA6E2-8B86-4597-90BC-10CBF3106090}" dt="2026-09-13T15:19:32.289" v="1094" actId="1076"/>
          <ac:picMkLst>
            <pc:docMk/>
            <pc:sldMk cId="0" sldId="283"/>
            <ac:picMk id="2" creationId="{00000000-0000-0000-0000-000000000000}"/>
          </ac:picMkLst>
        </pc:picChg>
      </pc:sldChg>
      <pc:sldChg chg="addSp delSp modSp add mod ord">
        <pc:chgData name="Nicolai Kjærnes" userId="2aac52dfc3eafafe" providerId="LiveId" clId="{8BCAA6E2-8B86-4597-90BC-10CBF3106090}" dt="2026-09-13T13:32:29.401" v="1015" actId="478"/>
        <pc:sldMkLst>
          <pc:docMk/>
          <pc:sldMk cId="0" sldId="289"/>
        </pc:sldMkLst>
        <pc:spChg chg="mod">
          <ac:chgData name="Nicolai Kjærnes" userId="2aac52dfc3eafafe" providerId="LiveId" clId="{8BCAA6E2-8B86-4597-90BC-10CBF3106090}" dt="2026-09-13T13:31:58.078" v="966" actId="14100"/>
          <ac:spMkLst>
            <pc:docMk/>
            <pc:sldMk cId="0" sldId="289"/>
            <ac:spMk id="3" creationId="{00000000-0000-0000-0000-000000000000}"/>
          </ac:spMkLst>
        </pc:spChg>
        <pc:spChg chg="mod">
          <ac:chgData name="Nicolai Kjærnes" userId="2aac52dfc3eafafe" providerId="LiveId" clId="{8BCAA6E2-8B86-4597-90BC-10CBF3106090}" dt="2026-09-13T13:32:23.695" v="1013" actId="1037"/>
          <ac:spMkLst>
            <pc:docMk/>
            <pc:sldMk cId="0" sldId="289"/>
            <ac:spMk id="9" creationId="{00000000-0000-0000-0000-000000000000}"/>
          </ac:spMkLst>
        </pc:spChg>
        <pc:spChg chg="mod">
          <ac:chgData name="Nicolai Kjærnes" userId="2aac52dfc3eafafe" providerId="LiveId" clId="{8BCAA6E2-8B86-4597-90BC-10CBF3106090}" dt="2026-09-13T13:32:23.695" v="1013" actId="1037"/>
          <ac:spMkLst>
            <pc:docMk/>
            <pc:sldMk cId="0" sldId="289"/>
            <ac:spMk id="13" creationId="{00000000-0000-0000-0000-000000000000}"/>
          </ac:spMkLst>
        </pc:spChg>
        <pc:spChg chg="add del mod">
          <ac:chgData name="Nicolai Kjærnes" userId="2aac52dfc3eafafe" providerId="LiveId" clId="{8BCAA6E2-8B86-4597-90BC-10CBF3106090}" dt="2026-09-13T13:32:29.401" v="1015" actId="478"/>
          <ac:spMkLst>
            <pc:docMk/>
            <pc:sldMk cId="0" sldId="289"/>
            <ac:spMk id="14" creationId="{00000000-0000-0000-0000-000000000000}"/>
          </ac:spMkLst>
        </pc:spChg>
        <pc:spChg chg="add del mod">
          <ac:chgData name="Nicolai Kjærnes" userId="2aac52dfc3eafafe" providerId="LiveId" clId="{8BCAA6E2-8B86-4597-90BC-10CBF3106090}" dt="2026-09-13T13:32:16.676" v="987"/>
          <ac:spMkLst>
            <pc:docMk/>
            <pc:sldMk cId="0" sldId="289"/>
            <ac:spMk id="15" creationId="{BD9793C4-FF1C-3878-CC5E-2C1A3F1FACC0}"/>
          </ac:spMkLst>
        </pc:spChg>
        <pc:grpChg chg="mod">
          <ac:chgData name="Nicolai Kjærnes" userId="2aac52dfc3eafafe" providerId="LiveId" clId="{8BCAA6E2-8B86-4597-90BC-10CBF3106090}" dt="2026-09-13T13:32:23.695" v="1013" actId="1037"/>
          <ac:grpSpMkLst>
            <pc:docMk/>
            <pc:sldMk cId="0" sldId="289"/>
            <ac:grpSpMk id="4" creationId="{00000000-0000-0000-0000-000000000000}"/>
          </ac:grpSpMkLst>
        </pc:grpChg>
        <pc:grpChg chg="mod">
          <ac:chgData name="Nicolai Kjærnes" userId="2aac52dfc3eafafe" providerId="LiveId" clId="{8BCAA6E2-8B86-4597-90BC-10CBF3106090}" dt="2026-09-13T13:32:23.695" v="1013" actId="1037"/>
          <ac:grpSpMkLst>
            <pc:docMk/>
            <pc:sldMk cId="0" sldId="289"/>
            <ac:grpSpMk id="10" creationId="{00000000-0000-0000-0000-000000000000}"/>
          </ac:grpSpMkLst>
        </pc:grpChg>
        <pc:picChg chg="mod">
          <ac:chgData name="Nicolai Kjærnes" userId="2aac52dfc3eafafe" providerId="LiveId" clId="{8BCAA6E2-8B86-4597-90BC-10CBF3106090}" dt="2026-09-13T13:32:08.889" v="984" actId="1038"/>
          <ac:picMkLst>
            <pc:docMk/>
            <pc:sldMk cId="0" sldId="289"/>
            <ac:picMk id="5" creationId="{00000000-0000-0000-0000-000000000000}"/>
          </ac:picMkLst>
        </pc:picChg>
      </pc:sldChg>
      <pc:sldChg chg="add">
        <pc:chgData name="Nicolai Kjærnes" userId="2aac52dfc3eafafe" providerId="LiveId" clId="{8BCAA6E2-8B86-4597-90BC-10CBF3106090}" dt="2026-09-14T05:11:52.882" v="1095"/>
        <pc:sldMkLst>
          <pc:docMk/>
          <pc:sldMk cId="2742228843" sldId="290"/>
        </pc:sldMkLst>
      </pc:sldChg>
      <pc:sldChg chg="add">
        <pc:chgData name="Nicolai Kjærnes" userId="2aac52dfc3eafafe" providerId="LiveId" clId="{8BCAA6E2-8B86-4597-90BC-10CBF3106090}" dt="2026-09-14T05:12:11.049" v="1108"/>
        <pc:sldMkLst>
          <pc:docMk/>
          <pc:sldMk cId="3660992801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2C6CE-1276-4659-A53F-209CFC4BA029}" type="datetimeFigureOut">
              <a:rPr lang="nb-NO" smtClean="0"/>
              <a:t>13.09.2026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tekststiler i malen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F40A3-3AC1-464D-B754-EB125385C11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600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F40A3-3AC1-464D-B754-EB125385C115}" type="slidenum">
              <a:rPr lang="nb-NO" smtClean="0"/>
              <a:t>25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9190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Component teams</a:t>
            </a:r>
            <a:r>
              <a:rPr lang="en-US" dirty="0"/>
              <a:t> build </a:t>
            </a:r>
            <a:r>
              <a:rPr lang="en-US" i="1" dirty="0"/>
              <a:t>pieces</a:t>
            </a:r>
            <a:r>
              <a:rPr lang="en-US" dirty="0"/>
              <a:t> of the system; </a:t>
            </a:r>
            <a:r>
              <a:rPr lang="en-US" b="1" dirty="0"/>
              <a:t>feature teams</a:t>
            </a:r>
            <a:r>
              <a:rPr lang="en-US" dirty="0"/>
              <a:t> build </a:t>
            </a:r>
            <a:r>
              <a:rPr lang="en-US" i="1" dirty="0"/>
              <a:t>end-to-end functionality that delivers user value.</a:t>
            </a:r>
            <a:endParaRPr lang="en-US" dirty="0"/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F40A3-3AC1-464D-B754-EB125385C115}" type="slidenum">
              <a:rPr lang="nb-NO" smtClean="0"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4490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" b="1"/>
              <a:t>Scrum of Scrums</a:t>
            </a:r>
            <a:r>
              <a:rPr lang="nb"/>
              <a:t> er et vanlig møte der representanter fra hvert Scrum-team møtes for å dele fremgang, overflateavhengigheter og ta opp problemer som påvirker mer enn ett team.</a:t>
            </a:r>
          </a:p>
          <a:p>
            <a:r>
              <a:rPr lang="nb"/>
              <a:t>Det er som en </a:t>
            </a:r>
            <a:r>
              <a:rPr lang="nb" b="1"/>
              <a:t>"meta-daglig Scrum".</a:t>
            </a:r>
          </a:p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F40A3-3AC1-464D-B754-EB125385C115}" type="slidenum">
              <a:rPr lang="nb-NO" smtClean="0"/>
              <a:t>27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7916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One product, one Product Owner, one backlog</a:t>
            </a:r>
            <a:r>
              <a:rPr lang="en-US" dirty="0"/>
              <a:t> shared by many feature teams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F40A3-3AC1-464D-B754-EB125385C115}" type="slidenum">
              <a:rPr lang="nb-NO" smtClean="0"/>
              <a:t>28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07046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notater 1">
            <a:extLst>
              <a:ext uri="{FF2B5EF4-FFF2-40B4-BE49-F238E27FC236}">
                <a16:creationId xmlns:a16="http://schemas.microsoft.com/office/drawing/2014/main" id="{1A5A852F-C444-18D2-6909-5D5F084EF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SAFe</a:t>
            </a:r>
            <a:r>
              <a:rPr lang="en-US" dirty="0"/>
              <a:t> provides </a:t>
            </a:r>
            <a:r>
              <a:rPr lang="en-US" b="1" dirty="0"/>
              <a:t>structure and events</a:t>
            </a:r>
            <a:r>
              <a:rPr lang="en-US" dirty="0"/>
              <a:t> to keep all those teams moving in the same direction.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👉 You can imagine the ART as a </a:t>
            </a:r>
            <a:r>
              <a:rPr lang="en-US" b="1" dirty="0"/>
              <a:t>“virtual train” carrying features toward the customer</a:t>
            </a:r>
            <a:r>
              <a:rPr lang="en-US" dirty="0"/>
              <a:t>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87098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 Role: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Project Manager, depicted with a megaphone, acts as a central figure, potentially coordinating activities or communicating with various teams.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and External Interactions: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Scrum Team interacts with both "Internal non-Scrum teams" and "Subcontractors," highlighting the need for cross-organizational collaboration.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Diverse Team Structures: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diagram shows different configurations of teams, including those with internal structures (represented by the triangles and squares) and those that are more loosely connected.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Scrum: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model emphasizes the various relationships and dependencies a Scrum Team might encounter in a larger organizational context, extending beyond the core Scrum framework. 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F40A3-3AC1-464D-B754-EB125385C115}" type="slidenum">
              <a:rPr lang="nb-NO" smtClean="0"/>
              <a:t>31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203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C2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75352" y="5325694"/>
            <a:ext cx="3065145" cy="1532890"/>
          </a:xfrm>
          <a:custGeom>
            <a:avLst/>
            <a:gdLst/>
            <a:ahLst/>
            <a:cxnLst/>
            <a:rect l="l" t="t" r="r" b="b"/>
            <a:pathLst>
              <a:path w="3065145" h="1532890">
                <a:moveTo>
                  <a:pt x="1532305" y="0"/>
                </a:moveTo>
                <a:lnTo>
                  <a:pt x="0" y="1532305"/>
                </a:lnTo>
                <a:lnTo>
                  <a:pt x="3064598" y="1532305"/>
                </a:lnTo>
                <a:lnTo>
                  <a:pt x="1532305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5220970" cy="3089910"/>
          </a:xfrm>
          <a:custGeom>
            <a:avLst/>
            <a:gdLst/>
            <a:ahLst/>
            <a:cxnLst/>
            <a:rect l="l" t="t" r="r" b="b"/>
            <a:pathLst>
              <a:path w="5220970" h="3089910">
                <a:moveTo>
                  <a:pt x="5220944" y="345046"/>
                </a:moveTo>
                <a:lnTo>
                  <a:pt x="4126839" y="345046"/>
                </a:lnTo>
                <a:lnTo>
                  <a:pt x="4471886" y="0"/>
                </a:lnTo>
                <a:lnTo>
                  <a:pt x="0" y="0"/>
                </a:lnTo>
                <a:lnTo>
                  <a:pt x="0" y="1706905"/>
                </a:lnTo>
                <a:lnTo>
                  <a:pt x="1382496" y="3089402"/>
                </a:lnTo>
                <a:lnTo>
                  <a:pt x="3698176" y="773722"/>
                </a:lnTo>
                <a:lnTo>
                  <a:pt x="4245229" y="1320761"/>
                </a:lnTo>
                <a:lnTo>
                  <a:pt x="5220944" y="345046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377877" y="749147"/>
            <a:ext cx="393065" cy="196850"/>
          </a:xfrm>
          <a:custGeom>
            <a:avLst/>
            <a:gdLst/>
            <a:ahLst/>
            <a:cxnLst/>
            <a:rect l="l" t="t" r="r" b="b"/>
            <a:pathLst>
              <a:path w="393064" h="196850">
                <a:moveTo>
                  <a:pt x="392556" y="0"/>
                </a:moveTo>
                <a:lnTo>
                  <a:pt x="0" y="0"/>
                </a:lnTo>
                <a:lnTo>
                  <a:pt x="196278" y="196278"/>
                </a:lnTo>
                <a:lnTo>
                  <a:pt x="392556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701549"/>
            <a:ext cx="1161415" cy="1160780"/>
          </a:xfrm>
          <a:custGeom>
            <a:avLst/>
            <a:gdLst/>
            <a:ahLst/>
            <a:cxnLst/>
            <a:rect l="l" t="t" r="r" b="b"/>
            <a:pathLst>
              <a:path w="1161415" h="1160780">
                <a:moveTo>
                  <a:pt x="1161288" y="0"/>
                </a:moveTo>
                <a:lnTo>
                  <a:pt x="0" y="0"/>
                </a:lnTo>
                <a:lnTo>
                  <a:pt x="0" y="1160526"/>
                </a:lnTo>
                <a:lnTo>
                  <a:pt x="1161288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812" y="365429"/>
            <a:ext cx="855471" cy="3745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3049" y="2263715"/>
            <a:ext cx="285559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74488" y="4125872"/>
            <a:ext cx="4109085" cy="939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08206" y="367651"/>
            <a:ext cx="855489" cy="3760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856" y="323292"/>
            <a:ext cx="7828916" cy="9568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200" y="1668920"/>
            <a:ext cx="11531600" cy="4114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icolai.kjaernes@grundergarasjen.n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ess.works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scaledagileframework.com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003" y="2370268"/>
            <a:ext cx="300610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2000" spc="-10" dirty="0">
                <a:solidFill>
                  <a:srgbClr val="FFFFFF"/>
                </a:solidFill>
                <a:latin typeface="Arial MT"/>
                <a:cs typeface="Arial MT"/>
              </a:rPr>
              <a:t>PRO203 – Smidig prosjekt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002" y="2668972"/>
            <a:ext cx="554759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nb" sz="3600" dirty="0">
                <a:solidFill>
                  <a:srgbClr val="FFFFFF"/>
                </a:solidFill>
                <a:latin typeface="Arial MT"/>
                <a:cs typeface="Arial MT"/>
              </a:rPr>
              <a:t>Forelesning 3: Scrum-roller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474488" y="4125872"/>
            <a:ext cx="4109085" cy="890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00"/>
              </a:spcBef>
            </a:pPr>
            <a:r>
              <a:rPr lang="nb" sz="2400">
                <a:solidFill>
                  <a:srgbClr val="FFFFFF"/>
                </a:solidFill>
                <a:latin typeface="Arial MT"/>
                <a:cs typeface="Arial MT"/>
              </a:rPr>
              <a:t>Nicolai Kjærnes </a:t>
            </a:r>
            <a:r>
              <a:rPr lang="nb" sz="2400" spc="-1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nicolai@grundergarasjen.no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pc="-50"/>
              <a:t>Dagens 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343" y="1744022"/>
            <a:ext cx="5944235" cy="17227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10"/>
              </a:spcBef>
              <a:buChar char="•"/>
              <a:tabLst>
                <a:tab pos="240665" algn="l"/>
              </a:tabLst>
            </a:pPr>
            <a:r>
              <a:rPr lang="nb" sz="3200">
                <a:latin typeface="Arial MT"/>
                <a:cs typeface="Arial MT"/>
              </a:rPr>
              <a:t>Kapittel 9: Produkteier</a:t>
            </a:r>
            <a:endParaRPr sz="3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lang="nb" sz="3200">
                <a:latin typeface="Arial MT"/>
                <a:cs typeface="Arial MT"/>
              </a:rPr>
              <a:t>Kapittel 10: Scrum Master</a:t>
            </a:r>
            <a:endParaRPr sz="3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lang="nb" sz="3200">
                <a:latin typeface="Arial MT"/>
                <a:cs typeface="Arial MT"/>
              </a:rPr>
              <a:t>Kapittel 11: Utviklingsteamet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75"/>
              </a:lnSpc>
              <a:spcBef>
                <a:spcPts val="95"/>
              </a:spcBef>
            </a:pPr>
            <a:r>
              <a:rPr lang="nb"/>
              <a:t>Scrum-teamstruktur</a:t>
            </a:r>
          </a:p>
          <a:p>
            <a:pPr marL="89535">
              <a:lnSpc>
                <a:spcPts val="3195"/>
              </a:lnSpc>
            </a:pPr>
            <a:r>
              <a:rPr lang="nb" sz="2800" b="0">
                <a:latin typeface="Arial MT"/>
                <a:cs typeface="Arial MT"/>
              </a:rPr>
              <a:t>Roller og ansvar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8282" y="1745358"/>
            <a:ext cx="5531342" cy="46474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295275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lang="nb" sz="2400" b="1" dirty="0">
                <a:latin typeface="Arial"/>
                <a:cs typeface="Arial"/>
              </a:rPr>
              <a:t>Utviklerteamet </a:t>
            </a:r>
            <a:r>
              <a:rPr lang="nb" sz="2400" spc="-10" dirty="0">
                <a:latin typeface="Arial MT"/>
                <a:cs typeface="Arial MT"/>
              </a:rPr>
              <a:t>organiserer seg selv og finner den beste måten å nå sprintmålet på</a:t>
            </a:r>
            <a:endParaRPr sz="24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697865" algn="l"/>
              </a:tabLst>
            </a:pPr>
            <a:r>
              <a:rPr lang="nb" sz="2000" spc="-20" dirty="0">
                <a:latin typeface="Arial MT"/>
                <a:cs typeface="Arial MT"/>
              </a:rPr>
              <a:t>Plan på høyt nivå, just-in-time og </a:t>
            </a:r>
            <a:r>
              <a:rPr lang="nb-NO" sz="2000" spc="-10" dirty="0" err="1">
                <a:latin typeface="Arial MT"/>
                <a:cs typeface="Arial MT"/>
              </a:rPr>
              <a:t>task-</a:t>
            </a:r>
            <a:r>
              <a:rPr lang="nb-NO" sz="2000" dirty="0" err="1">
                <a:latin typeface="Arial MT"/>
                <a:cs typeface="Arial MT"/>
              </a:rPr>
              <a:t>level</a:t>
            </a:r>
            <a:r>
              <a:rPr lang="nb-NO" sz="2000" spc="-30" dirty="0">
                <a:latin typeface="Arial MT"/>
                <a:cs typeface="Arial MT"/>
              </a:rPr>
              <a:t> </a:t>
            </a:r>
            <a:r>
              <a:rPr lang="nb-NO" sz="2000" spc="-20" dirty="0">
                <a:latin typeface="Arial MT"/>
                <a:cs typeface="Arial MT"/>
              </a:rPr>
              <a:t>planlegging</a:t>
            </a:r>
            <a:endParaRPr sz="2000" dirty="0">
              <a:latin typeface="Arial MT"/>
              <a:cs typeface="Arial MT"/>
            </a:endParaRPr>
          </a:p>
          <a:p>
            <a:pPr marL="240029" marR="112395" indent="-227329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nb" sz="2400" b="1" dirty="0">
                <a:latin typeface="Arial"/>
                <a:cs typeface="Arial"/>
              </a:rPr>
              <a:t>Scrum master </a:t>
            </a:r>
            <a:r>
              <a:rPr lang="nb" sz="2400" dirty="0">
                <a:latin typeface="Arial MT"/>
                <a:cs typeface="Arial MT"/>
              </a:rPr>
              <a:t>coacher, tilrettelegger og fjerner hindringer</a:t>
            </a:r>
            <a:endParaRPr sz="24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697865" algn="l"/>
              </a:tabLst>
            </a:pPr>
            <a:r>
              <a:rPr lang="nb" sz="2000" dirty="0">
                <a:latin typeface="Arial MT"/>
                <a:cs typeface="Arial MT"/>
              </a:rPr>
              <a:t>Ikke fortell folk hva de skal gjøre!</a:t>
            </a:r>
            <a:endParaRPr sz="2000" dirty="0">
              <a:latin typeface="Arial MT"/>
              <a:cs typeface="Arial MT"/>
            </a:endParaRPr>
          </a:p>
          <a:p>
            <a:pPr marL="239395" marR="297180" indent="-227329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lang="nb" sz="2400" b="1" dirty="0">
                <a:latin typeface="Arial"/>
                <a:cs typeface="Arial"/>
              </a:rPr>
              <a:t>Produkteier </a:t>
            </a:r>
            <a:r>
              <a:rPr lang="nb" sz="2400" dirty="0">
                <a:latin typeface="Arial MT"/>
                <a:cs typeface="Arial MT"/>
              </a:rPr>
              <a:t>svarer på spørsmål, gjennomgår mellomliggende arbeid og verifiserer godkjenningskriteriene</a:t>
            </a:r>
            <a:endParaRPr sz="24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697865" algn="l"/>
              </a:tabLst>
            </a:pPr>
            <a:r>
              <a:rPr lang="nb" sz="2000" dirty="0">
                <a:latin typeface="Arial MT"/>
                <a:cs typeface="Arial MT"/>
              </a:rPr>
              <a:t>Diskuter også endringer i sprintmålet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883" y="1923396"/>
            <a:ext cx="5310710" cy="321572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C2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75352" y="5325694"/>
            <a:ext cx="3065145" cy="1532890"/>
          </a:xfrm>
          <a:custGeom>
            <a:avLst/>
            <a:gdLst/>
            <a:ahLst/>
            <a:cxnLst/>
            <a:rect l="l" t="t" r="r" b="b"/>
            <a:pathLst>
              <a:path w="3065145" h="1532890">
                <a:moveTo>
                  <a:pt x="1532305" y="0"/>
                </a:moveTo>
                <a:lnTo>
                  <a:pt x="0" y="1532305"/>
                </a:lnTo>
                <a:lnTo>
                  <a:pt x="3064598" y="1532305"/>
                </a:lnTo>
                <a:lnTo>
                  <a:pt x="1532305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220970" cy="3089910"/>
          </a:xfrm>
          <a:custGeom>
            <a:avLst/>
            <a:gdLst/>
            <a:ahLst/>
            <a:cxnLst/>
            <a:rect l="l" t="t" r="r" b="b"/>
            <a:pathLst>
              <a:path w="5220970" h="3089910">
                <a:moveTo>
                  <a:pt x="5220944" y="345046"/>
                </a:moveTo>
                <a:lnTo>
                  <a:pt x="4126839" y="345046"/>
                </a:lnTo>
                <a:lnTo>
                  <a:pt x="4471886" y="0"/>
                </a:lnTo>
                <a:lnTo>
                  <a:pt x="0" y="0"/>
                </a:lnTo>
                <a:lnTo>
                  <a:pt x="0" y="1706905"/>
                </a:lnTo>
                <a:lnTo>
                  <a:pt x="1382496" y="3089402"/>
                </a:lnTo>
                <a:lnTo>
                  <a:pt x="3698176" y="773722"/>
                </a:lnTo>
                <a:lnTo>
                  <a:pt x="4245229" y="1320761"/>
                </a:lnTo>
                <a:lnTo>
                  <a:pt x="5220944" y="345046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7877" y="749147"/>
            <a:ext cx="393065" cy="196850"/>
          </a:xfrm>
          <a:custGeom>
            <a:avLst/>
            <a:gdLst/>
            <a:ahLst/>
            <a:cxnLst/>
            <a:rect l="l" t="t" r="r" b="b"/>
            <a:pathLst>
              <a:path w="393064" h="196850">
                <a:moveTo>
                  <a:pt x="392556" y="0"/>
                </a:moveTo>
                <a:lnTo>
                  <a:pt x="0" y="0"/>
                </a:lnTo>
                <a:lnTo>
                  <a:pt x="196278" y="196278"/>
                </a:lnTo>
                <a:lnTo>
                  <a:pt x="392556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701549"/>
            <a:ext cx="1161415" cy="1160780"/>
          </a:xfrm>
          <a:custGeom>
            <a:avLst/>
            <a:gdLst/>
            <a:ahLst/>
            <a:cxnLst/>
            <a:rect l="l" t="t" r="r" b="b"/>
            <a:pathLst>
              <a:path w="1161415" h="1160780">
                <a:moveTo>
                  <a:pt x="1161288" y="0"/>
                </a:moveTo>
                <a:lnTo>
                  <a:pt x="0" y="0"/>
                </a:lnTo>
                <a:lnTo>
                  <a:pt x="0" y="1160526"/>
                </a:lnTo>
                <a:lnTo>
                  <a:pt x="1161288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812" y="365429"/>
            <a:ext cx="855471" cy="3745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3049" y="2263715"/>
            <a:ext cx="40303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4400" dirty="0">
                <a:solidFill>
                  <a:srgbClr val="FFFFFF"/>
                </a:solidFill>
              </a:rPr>
              <a:t>Produkteier</a:t>
            </a:r>
            <a:endParaRPr sz="44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6" y="323292"/>
            <a:ext cx="7828916" cy="897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75"/>
              </a:lnSpc>
              <a:spcBef>
                <a:spcPts val="95"/>
              </a:spcBef>
            </a:pPr>
            <a:r>
              <a:rPr lang="nb" dirty="0"/>
              <a:t>Produkteier</a:t>
            </a:r>
          </a:p>
          <a:p>
            <a:pPr marL="89535">
              <a:lnSpc>
                <a:spcPts val="3195"/>
              </a:lnSpc>
            </a:pPr>
            <a:r>
              <a:rPr lang="nb" sz="2800" b="0" dirty="0">
                <a:latin typeface="Arial MT"/>
                <a:cs typeface="Arial MT"/>
              </a:rPr>
              <a:t>Vendt i to retninger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9923" y="1567434"/>
            <a:ext cx="7312151" cy="458723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75"/>
              </a:lnSpc>
              <a:spcBef>
                <a:spcPts val="95"/>
              </a:spcBef>
            </a:pPr>
            <a:r>
              <a:rPr lang="nb"/>
              <a:t>Eier av produktet</a:t>
            </a:r>
          </a:p>
          <a:p>
            <a:pPr marL="89535">
              <a:lnSpc>
                <a:spcPts val="3195"/>
              </a:lnSpc>
            </a:pPr>
            <a:r>
              <a:rPr lang="nb" sz="2800" b="0" spc="-65">
                <a:latin typeface="Arial MT"/>
                <a:cs typeface="Arial MT"/>
              </a:rPr>
              <a:t>Teamroller og ansvar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343" y="1747070"/>
            <a:ext cx="6329680" cy="32315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00"/>
              </a:spcBef>
              <a:buChar char="•"/>
              <a:tabLst>
                <a:tab pos="240665" algn="l"/>
              </a:tabLst>
            </a:pPr>
            <a:r>
              <a:rPr lang="nb" sz="2000" dirty="0">
                <a:latin typeface="Arial MT"/>
                <a:cs typeface="Arial MT"/>
              </a:rPr>
              <a:t>Administrer økonomi på utgivelsesnivå og sprintnivå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Char char="•"/>
              <a:tabLst>
                <a:tab pos="240665" algn="l"/>
              </a:tabLst>
            </a:pPr>
            <a:r>
              <a:rPr lang="nb" sz="2000" dirty="0">
                <a:latin typeface="Arial MT"/>
                <a:cs typeface="Arial MT"/>
              </a:rPr>
              <a:t>Delta i planleggingen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har char="•"/>
              <a:tabLst>
                <a:tab pos="240665" algn="l"/>
              </a:tabLst>
            </a:pPr>
            <a:r>
              <a:rPr lang="nb" sz="2000" dirty="0">
                <a:latin typeface="Arial MT"/>
                <a:cs typeface="Arial MT"/>
              </a:rPr>
              <a:t>Bygg og rydd produktbackloggen</a:t>
            </a:r>
            <a:endParaRPr sz="20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15"/>
              </a:spcBef>
              <a:buChar char="•"/>
              <a:tabLst>
                <a:tab pos="697865" algn="l"/>
              </a:tabLst>
            </a:pPr>
            <a:r>
              <a:rPr lang="nb" sz="1600" dirty="0">
                <a:latin typeface="Arial MT"/>
                <a:cs typeface="Arial MT"/>
              </a:rPr>
              <a:t>Beskriv brukerhistorier med passende detaljer</a:t>
            </a:r>
            <a:endParaRPr sz="16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495"/>
              </a:spcBef>
              <a:buChar char="•"/>
              <a:tabLst>
                <a:tab pos="697865" algn="l"/>
              </a:tabLst>
            </a:pPr>
            <a:r>
              <a:rPr lang="nb" sz="1600" dirty="0">
                <a:latin typeface="Arial MT"/>
                <a:cs typeface="Arial MT"/>
              </a:rPr>
              <a:t>Prioriter basert på kunde- og forretningsverdi</a:t>
            </a:r>
            <a:endParaRPr sz="16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95"/>
              </a:spcBef>
              <a:buChar char="•"/>
              <a:tabLst>
                <a:tab pos="240665" algn="l"/>
              </a:tabLst>
            </a:pPr>
            <a:r>
              <a:rPr lang="nb" sz="2000" dirty="0">
                <a:latin typeface="Arial MT"/>
                <a:cs typeface="Arial MT"/>
              </a:rPr>
              <a:t>Definer akseptkriterier og kontroller at de er oppfylt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har char="•"/>
              <a:tabLst>
                <a:tab pos="240665" algn="l"/>
              </a:tabLst>
            </a:pPr>
            <a:r>
              <a:rPr lang="nb" sz="2000" dirty="0">
                <a:latin typeface="Arial MT"/>
                <a:cs typeface="Arial MT"/>
              </a:rPr>
              <a:t>Samarbeid med utviklingsteamet</a:t>
            </a:r>
            <a:endParaRPr sz="20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240665" algn="l"/>
              </a:tabLst>
            </a:pPr>
            <a:r>
              <a:rPr lang="nb" sz="2000" dirty="0">
                <a:latin typeface="Arial MT"/>
                <a:cs typeface="Arial MT"/>
              </a:rPr>
              <a:t>Samarbeid med (eksterne) stakeholdere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66588" y="1672590"/>
            <a:ext cx="6725920" cy="5185410"/>
            <a:chOff x="5466588" y="1672590"/>
            <a:chExt cx="6725920" cy="5185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6588" y="1672590"/>
              <a:ext cx="6725411" cy="51854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34572" y="6274308"/>
              <a:ext cx="757555" cy="417195"/>
            </a:xfrm>
            <a:custGeom>
              <a:avLst/>
              <a:gdLst/>
              <a:ahLst/>
              <a:cxnLst/>
              <a:rect l="l" t="t" r="r" b="b"/>
              <a:pathLst>
                <a:path w="757554" h="417195">
                  <a:moveTo>
                    <a:pt x="757427" y="0"/>
                  </a:moveTo>
                  <a:lnTo>
                    <a:pt x="0" y="0"/>
                  </a:lnTo>
                  <a:lnTo>
                    <a:pt x="0" y="416813"/>
                  </a:lnTo>
                  <a:lnTo>
                    <a:pt x="757427" y="416813"/>
                  </a:lnTo>
                  <a:lnTo>
                    <a:pt x="757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75"/>
              </a:lnSpc>
              <a:spcBef>
                <a:spcPts val="95"/>
              </a:spcBef>
            </a:pPr>
            <a:r>
              <a:rPr lang="nb"/>
              <a:t>Administrere økonomi</a:t>
            </a:r>
          </a:p>
          <a:p>
            <a:pPr marL="89535">
              <a:lnSpc>
                <a:spcPts val="3195"/>
              </a:lnSpc>
            </a:pPr>
            <a:r>
              <a:rPr lang="nb" sz="2800" b="0" spc="-65">
                <a:latin typeface="Arial MT"/>
                <a:cs typeface="Arial MT"/>
              </a:rPr>
              <a:t>Teamroller og ansvar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589" y="2264507"/>
            <a:ext cx="9981340" cy="40054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6179" y="1980438"/>
            <a:ext cx="5106161" cy="38656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902" y="323292"/>
            <a:ext cx="43776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/>
              <a:t>Delta i planleggingen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0902" y="769061"/>
            <a:ext cx="11433022" cy="5698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nb" sz="2800" spc="-65" dirty="0">
                <a:latin typeface="Arial MT"/>
                <a:cs typeface="Arial MT"/>
              </a:rPr>
              <a:t>Teamroller og ansvar</a:t>
            </a:r>
            <a:endParaRPr sz="2800" dirty="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2620"/>
              </a:spcBef>
            </a:pPr>
            <a:r>
              <a:rPr lang="nb" sz="2400" b="1" dirty="0">
                <a:latin typeface="Arial"/>
                <a:cs typeface="Arial"/>
              </a:rPr>
              <a:t>Med interne stakeholdere</a:t>
            </a:r>
            <a:endParaRPr sz="2400" dirty="0">
              <a:latin typeface="Arial"/>
              <a:cs typeface="Arial"/>
            </a:endParaRPr>
          </a:p>
          <a:p>
            <a:pPr marL="241300" indent="-227329">
              <a:lnSpc>
                <a:spcPct val="10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lang="nb" sz="2400" dirty="0">
                <a:latin typeface="Arial MT"/>
                <a:cs typeface="Arial MT"/>
              </a:rPr>
              <a:t>Plasser produktet</a:t>
            </a:r>
            <a:endParaRPr sz="2400" dirty="0">
              <a:latin typeface="Arial MT"/>
              <a:cs typeface="Arial MT"/>
            </a:endParaRPr>
          </a:p>
          <a:p>
            <a:pPr marL="241300" indent="-227329">
              <a:lnSpc>
                <a:spcPct val="10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lang="nb" sz="2400" dirty="0">
                <a:latin typeface="Arial MT"/>
                <a:cs typeface="Arial MT"/>
              </a:rPr>
              <a:t>Se for deg produktet</a:t>
            </a:r>
            <a:endParaRPr sz="2400" dirty="0">
              <a:latin typeface="Arial MT"/>
              <a:cs typeface="Arial MT"/>
            </a:endParaRPr>
          </a:p>
          <a:p>
            <a:pPr marL="241300" indent="-227329">
              <a:lnSpc>
                <a:spcPct val="10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lang="nb" sz="2400" dirty="0">
                <a:latin typeface="Arial MT"/>
                <a:cs typeface="Arial MT"/>
              </a:rPr>
              <a:t>Innhent godkjenning av</a:t>
            </a:r>
            <a:endParaRPr sz="2400" dirty="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</a:pPr>
            <a:r>
              <a:rPr lang="nb" sz="2400" dirty="0">
                <a:latin typeface="Arial MT"/>
                <a:cs typeface="Arial MT"/>
              </a:rPr>
              <a:t>styret eller komiteen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400" dirty="0">
              <a:latin typeface="Arial MT"/>
              <a:cs typeface="Arial MT"/>
            </a:endParaRPr>
          </a:p>
          <a:p>
            <a:pPr marL="6630670">
              <a:lnSpc>
                <a:spcPct val="100000"/>
              </a:lnSpc>
            </a:pPr>
            <a:r>
              <a:rPr lang="nb" sz="2400" b="1" dirty="0">
                <a:latin typeface="Arial"/>
                <a:cs typeface="Arial"/>
              </a:rPr>
              <a:t>Med Scrum-teamet</a:t>
            </a:r>
            <a:endParaRPr sz="2400" dirty="0">
              <a:latin typeface="Arial"/>
              <a:cs typeface="Arial"/>
            </a:endParaRPr>
          </a:p>
          <a:p>
            <a:pPr marL="6858000" lvl="1" indent="-227329">
              <a:lnSpc>
                <a:spcPct val="100000"/>
              </a:lnSpc>
              <a:spcBef>
                <a:spcPts val="715"/>
              </a:spcBef>
              <a:buChar char="•"/>
              <a:tabLst>
                <a:tab pos="6858000" algn="l"/>
              </a:tabLst>
            </a:pPr>
            <a:r>
              <a:rPr lang="nb" sz="2400" dirty="0">
                <a:latin typeface="Arial MT"/>
                <a:cs typeface="Arial MT"/>
              </a:rPr>
              <a:t>Definere innholdet i neste versjon</a:t>
            </a:r>
            <a:endParaRPr sz="2400" dirty="0">
              <a:latin typeface="Arial MT"/>
              <a:cs typeface="Arial MT"/>
            </a:endParaRPr>
          </a:p>
          <a:p>
            <a:pPr marL="6858000" lvl="1" indent="-227329">
              <a:lnSpc>
                <a:spcPct val="100000"/>
              </a:lnSpc>
              <a:spcBef>
                <a:spcPts val="710"/>
              </a:spcBef>
              <a:buChar char="•"/>
              <a:tabLst>
                <a:tab pos="6858000" algn="l"/>
              </a:tabLst>
            </a:pPr>
            <a:r>
              <a:rPr lang="nb" sz="2400" dirty="0">
                <a:latin typeface="Arial MT"/>
                <a:cs typeface="Arial MT"/>
              </a:rPr>
              <a:t>Definer sprintmål</a:t>
            </a:r>
            <a:endParaRPr sz="2400" dirty="0">
              <a:latin typeface="Arial MT"/>
              <a:cs typeface="Arial MT"/>
            </a:endParaRPr>
          </a:p>
          <a:p>
            <a:pPr marL="6858000" lvl="1" indent="-227329">
              <a:lnSpc>
                <a:spcPct val="100000"/>
              </a:lnSpc>
              <a:spcBef>
                <a:spcPts val="710"/>
              </a:spcBef>
              <a:buChar char="•"/>
              <a:tabLst>
                <a:tab pos="6858000" algn="l"/>
              </a:tabLst>
            </a:pPr>
            <a:r>
              <a:rPr lang="nb" sz="2400" dirty="0">
                <a:latin typeface="Arial MT"/>
                <a:cs typeface="Arial MT"/>
              </a:rPr>
              <a:t>Gi verdibaserte innspill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6" y="323292"/>
            <a:ext cx="7828916" cy="897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75"/>
              </a:lnSpc>
              <a:spcBef>
                <a:spcPts val="95"/>
              </a:spcBef>
            </a:pPr>
            <a:r>
              <a:rPr lang="nb" dirty="0"/>
              <a:t>Backloggrooming/-rafinering</a:t>
            </a:r>
          </a:p>
          <a:p>
            <a:pPr marL="89535">
              <a:lnSpc>
                <a:spcPts val="3195"/>
              </a:lnSpc>
            </a:pPr>
            <a:r>
              <a:rPr lang="nb" sz="2800" b="0" spc="-65" dirty="0">
                <a:latin typeface="Arial MT"/>
                <a:cs typeface="Arial MT"/>
              </a:rPr>
              <a:t>Teamroller og ansvar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342" y="1795303"/>
            <a:ext cx="5374005" cy="397065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10"/>
              </a:spcBef>
              <a:buChar char="•"/>
              <a:tabLst>
                <a:tab pos="240029" algn="l"/>
              </a:tabLst>
            </a:pPr>
            <a:r>
              <a:rPr lang="nb" sz="2400" dirty="0">
                <a:latin typeface="Arial MT"/>
                <a:cs typeface="Arial MT"/>
              </a:rPr>
              <a:t>Opprette og finjustere PBI-er</a:t>
            </a:r>
            <a:endParaRPr sz="24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9"/>
              </a:spcBef>
              <a:buChar char="•"/>
              <a:tabLst>
                <a:tab pos="697865" algn="l"/>
              </a:tabLst>
            </a:pPr>
            <a:r>
              <a:rPr lang="nb" sz="2000" dirty="0">
                <a:latin typeface="Arial MT"/>
                <a:cs typeface="Arial MT"/>
              </a:rPr>
              <a:t>Skriv brukerhistorier og akseptkriterier</a:t>
            </a:r>
            <a:endParaRPr sz="20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Char char="•"/>
              <a:tabLst>
                <a:tab pos="697865" algn="l"/>
              </a:tabLst>
            </a:pPr>
            <a:r>
              <a:rPr lang="nb" sz="2000" dirty="0">
                <a:latin typeface="Arial MT"/>
                <a:cs typeface="Arial MT"/>
              </a:rPr>
              <a:t>Detaljere brukerhistoriene for gjeldende sprint</a:t>
            </a:r>
            <a:endParaRPr sz="20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495"/>
              </a:spcBef>
              <a:buChar char="•"/>
              <a:tabLst>
                <a:tab pos="697865" algn="l"/>
              </a:tabLst>
            </a:pPr>
            <a:r>
              <a:rPr lang="nb" sz="2000" dirty="0">
                <a:latin typeface="Arial MT"/>
                <a:cs typeface="Arial MT"/>
              </a:rPr>
              <a:t>Fungerer ikke alene!</a:t>
            </a:r>
            <a:endParaRPr sz="20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995"/>
              </a:spcBef>
              <a:buChar char="•"/>
              <a:tabLst>
                <a:tab pos="240029" algn="l"/>
              </a:tabLst>
            </a:pPr>
            <a:r>
              <a:rPr lang="nb" sz="2400" spc="-10" dirty="0">
                <a:latin typeface="Arial MT"/>
                <a:cs typeface="Arial MT"/>
              </a:rPr>
              <a:t>Prioritering</a:t>
            </a:r>
            <a:endParaRPr sz="2400" dirty="0">
              <a:latin typeface="Arial MT"/>
              <a:cs typeface="Arial MT"/>
            </a:endParaRPr>
          </a:p>
          <a:p>
            <a:pPr marL="698500" marR="409575" lvl="1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698500" algn="l"/>
              </a:tabLst>
            </a:pPr>
            <a:r>
              <a:rPr lang="nb" sz="2000" dirty="0">
                <a:latin typeface="Arial MT"/>
                <a:cs typeface="Arial MT"/>
              </a:rPr>
              <a:t>Setter prioriteringer basert på kunde- og forretningsverdi</a:t>
            </a:r>
            <a:endParaRPr sz="20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995"/>
              </a:spcBef>
              <a:buChar char="•"/>
              <a:tabLst>
                <a:tab pos="240029" algn="l"/>
              </a:tabLst>
            </a:pPr>
            <a:r>
              <a:rPr lang="nb" sz="2400" dirty="0">
                <a:latin typeface="Arial MT"/>
                <a:cs typeface="Arial MT"/>
              </a:rPr>
              <a:t>Hjelper med estimering</a:t>
            </a:r>
            <a:endParaRPr sz="24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Char char="•"/>
              <a:tabLst>
                <a:tab pos="697865" algn="l"/>
              </a:tabLst>
            </a:pPr>
            <a:r>
              <a:rPr lang="nb" sz="2000" dirty="0">
                <a:latin typeface="Arial MT"/>
                <a:cs typeface="Arial MT"/>
              </a:rPr>
              <a:t>Svar på spørsmål om brukerhistoriene</a:t>
            </a:r>
            <a:endParaRPr sz="20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0"/>
              </a:spcBef>
              <a:buChar char="•"/>
              <a:tabLst>
                <a:tab pos="697865" algn="l"/>
              </a:tabLst>
            </a:pPr>
            <a:r>
              <a:rPr lang="nb" sz="2000" dirty="0">
                <a:latin typeface="Arial MT"/>
                <a:cs typeface="Arial MT"/>
              </a:rPr>
              <a:t>Beregner ikke historiepoeng (SP)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0538" y="874776"/>
            <a:ext cx="5109971" cy="556564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902" y="323292"/>
            <a:ext cx="6457610" cy="89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675"/>
              </a:lnSpc>
              <a:spcBef>
                <a:spcPts val="95"/>
              </a:spcBef>
            </a:pPr>
            <a:r>
              <a:rPr lang="nb" dirty="0"/>
              <a:t>Samarbeid med utviklerteamet</a:t>
            </a:r>
          </a:p>
          <a:p>
            <a:pPr marL="12700">
              <a:lnSpc>
                <a:spcPts val="3195"/>
              </a:lnSpc>
            </a:pPr>
            <a:r>
              <a:rPr lang="nb" sz="2800" b="0" spc="-65" dirty="0">
                <a:latin typeface="Arial MT"/>
                <a:cs typeface="Arial MT"/>
              </a:rPr>
              <a:t>Teamroller og ansvar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342" y="1874629"/>
            <a:ext cx="4948555" cy="302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lang="nb" sz="2000" dirty="0">
                <a:latin typeface="Arial MT"/>
                <a:cs typeface="Arial MT"/>
              </a:rPr>
              <a:t>I tradisjonelle modeller er produkteieren for det meste involvert i konseptuelle og konklusjonsfaser</a:t>
            </a:r>
            <a:endParaRPr sz="20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15"/>
              </a:spcBef>
              <a:buChar char="•"/>
              <a:tabLst>
                <a:tab pos="697865" algn="l"/>
              </a:tabLst>
            </a:pPr>
            <a:r>
              <a:rPr lang="nb" sz="1600" dirty="0">
                <a:latin typeface="Arial MT"/>
                <a:cs typeface="Arial MT"/>
              </a:rPr>
              <a:t>Ikke mye behov for i de tekniske fasene</a:t>
            </a:r>
            <a:endParaRPr sz="1600" dirty="0">
              <a:latin typeface="Arial MT"/>
              <a:cs typeface="Arial MT"/>
            </a:endParaRPr>
          </a:p>
          <a:p>
            <a:pPr marL="241300" marR="86995" indent="-228600">
              <a:lnSpc>
                <a:spcPct val="100000"/>
              </a:lnSpc>
              <a:spcBef>
                <a:spcPts val="985"/>
              </a:spcBef>
              <a:buChar char="•"/>
              <a:tabLst>
                <a:tab pos="241300" algn="l"/>
              </a:tabLst>
            </a:pPr>
            <a:r>
              <a:rPr lang="nb" sz="2000" dirty="0">
                <a:latin typeface="Arial MT"/>
                <a:cs typeface="Arial MT"/>
              </a:rPr>
              <a:t>Smidig jobber ikke med faser, men en funksjon om gangen; Det betyr at alle faser skjer under en sprint</a:t>
            </a:r>
            <a:endParaRPr sz="2000" dirty="0">
              <a:latin typeface="Arial MT"/>
              <a:cs typeface="Arial MT"/>
            </a:endParaRPr>
          </a:p>
          <a:p>
            <a:pPr marL="241300" marR="203200" indent="-228600">
              <a:lnSpc>
                <a:spcPct val="10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lang="nb" sz="2000" dirty="0">
                <a:latin typeface="Arial MT"/>
                <a:cs typeface="Arial MT"/>
              </a:rPr>
              <a:t>Det betyr igjen at PO bør være engasjert hele tiden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6237" y="2087155"/>
            <a:ext cx="5161814" cy="413888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6" y="323292"/>
            <a:ext cx="7828916" cy="897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75"/>
              </a:lnSpc>
              <a:spcBef>
                <a:spcPts val="95"/>
              </a:spcBef>
            </a:pPr>
            <a:r>
              <a:rPr lang="nb" dirty="0"/>
              <a:t>Samarbeid med stakeholdere</a:t>
            </a:r>
          </a:p>
          <a:p>
            <a:pPr marL="89535">
              <a:lnSpc>
                <a:spcPts val="3195"/>
              </a:lnSpc>
            </a:pPr>
            <a:r>
              <a:rPr lang="nb" sz="2800" b="0" spc="-65" dirty="0">
                <a:latin typeface="Arial MT"/>
                <a:cs typeface="Arial MT"/>
              </a:rPr>
              <a:t>Teamroller og ansvar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341" y="1793468"/>
            <a:ext cx="5572505" cy="3682418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35"/>
              </a:spcBef>
              <a:buChar char="•"/>
              <a:tabLst>
                <a:tab pos="240665" algn="l"/>
              </a:tabLst>
            </a:pPr>
            <a:r>
              <a:rPr lang="nb" sz="2400" dirty="0">
                <a:latin typeface="Arial MT"/>
                <a:cs typeface="Arial MT"/>
              </a:rPr>
              <a:t>Oversetter fra stakeholder til utviklerteam</a:t>
            </a:r>
            <a:endParaRPr sz="2400" dirty="0">
              <a:latin typeface="Arial MT"/>
              <a:cs typeface="Arial MT"/>
            </a:endParaRPr>
          </a:p>
          <a:p>
            <a:pPr marL="697865" marR="485775" lvl="1" indent="-228600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697865" algn="l"/>
              </a:tabLst>
            </a:pPr>
            <a:r>
              <a:rPr lang="nb" b="1" dirty="0">
                <a:latin typeface="Arial"/>
                <a:cs typeface="Arial"/>
              </a:rPr>
              <a:t>Internt: </a:t>
            </a:r>
            <a:r>
              <a:rPr lang="nb" dirty="0">
                <a:latin typeface="Arial MT"/>
                <a:cs typeface="Arial MT"/>
              </a:rPr>
              <a:t>virksomhet, ledelse, markedsføring, salg, drift</a:t>
            </a:r>
            <a:endParaRPr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</a:tabLst>
            </a:pPr>
            <a:r>
              <a:rPr lang="nb" b="1" dirty="0">
                <a:latin typeface="Arial"/>
                <a:cs typeface="Arial"/>
              </a:rPr>
              <a:t>Eksternt: </a:t>
            </a:r>
            <a:r>
              <a:rPr lang="nb" dirty="0">
                <a:latin typeface="Arial MT"/>
                <a:cs typeface="Arial MT"/>
              </a:rPr>
              <a:t>kunder, brukere, partnere og andre</a:t>
            </a:r>
            <a:endParaRPr dirty="0">
              <a:latin typeface="Arial MT"/>
              <a:cs typeface="Arial MT"/>
            </a:endParaRPr>
          </a:p>
          <a:p>
            <a:pPr marL="296545" indent="-283845">
              <a:lnSpc>
                <a:spcPct val="100000"/>
              </a:lnSpc>
              <a:spcBef>
                <a:spcPts val="985"/>
              </a:spcBef>
              <a:buChar char="•"/>
              <a:tabLst>
                <a:tab pos="296545" algn="l"/>
              </a:tabLst>
            </a:pPr>
            <a:r>
              <a:rPr lang="nb" sz="2400" dirty="0">
                <a:latin typeface="Arial MT"/>
                <a:cs typeface="Arial MT"/>
              </a:rPr>
              <a:t>En inngangsport til kommunikasjon med</a:t>
            </a:r>
            <a:endParaRPr sz="24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15"/>
              </a:spcBef>
              <a:buChar char="•"/>
              <a:tabLst>
                <a:tab pos="697865" algn="l"/>
              </a:tabLst>
            </a:pPr>
            <a:r>
              <a:rPr lang="nb" spc="-10" dirty="0">
                <a:latin typeface="Arial MT"/>
                <a:cs typeface="Arial MT"/>
              </a:rPr>
              <a:t>Beslutningstakere</a:t>
            </a:r>
            <a:endParaRPr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495"/>
              </a:spcBef>
              <a:buChar char="•"/>
              <a:tabLst>
                <a:tab pos="697865" algn="l"/>
              </a:tabLst>
            </a:pPr>
            <a:r>
              <a:rPr lang="nb" dirty="0">
                <a:latin typeface="Arial MT"/>
                <a:cs typeface="Arial MT"/>
              </a:rPr>
              <a:t>Fageksperter (SME)</a:t>
            </a:r>
            <a:endParaRPr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Char char="•"/>
              <a:tabLst>
                <a:tab pos="697865" algn="l"/>
              </a:tabLst>
            </a:pPr>
            <a:r>
              <a:rPr lang="nb" dirty="0">
                <a:latin typeface="Arial MT"/>
                <a:cs typeface="Arial MT"/>
              </a:rPr>
              <a:t>Sluttbrukere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5446" y="1848611"/>
            <a:ext cx="5572505" cy="375589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59415" y="1812221"/>
            <a:ext cx="2936240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lang="nb"/>
              <a:t>Arbeidet til en produkteier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1687" y="184897"/>
            <a:ext cx="6335697" cy="65302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6" y="323292"/>
            <a:ext cx="7828916" cy="8842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85"/>
              </a:lnSpc>
              <a:spcBef>
                <a:spcPts val="95"/>
              </a:spcBef>
            </a:pPr>
            <a:r>
              <a:rPr lang="nb" dirty="0"/>
              <a:t>Hvem kan være produkteier?</a:t>
            </a:r>
          </a:p>
          <a:p>
            <a:pPr marL="89535">
              <a:lnSpc>
                <a:spcPts val="3085"/>
              </a:lnSpc>
            </a:pPr>
            <a:r>
              <a:rPr lang="nb" sz="2700" b="0" dirty="0">
                <a:latin typeface="Arial MT"/>
                <a:cs typeface="Arial MT"/>
              </a:rPr>
              <a:t>PO for ulike typer prosjekter</a:t>
            </a:r>
            <a:endParaRPr sz="2700" dirty="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338552"/>
              </p:ext>
            </p:extLst>
          </p:nvPr>
        </p:nvGraphicFramePr>
        <p:xfrm>
          <a:off x="368300" y="1668920"/>
          <a:ext cx="11442065" cy="44399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5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 prosjekt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3078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Kandidat produkteier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3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19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 b="1">
                          <a:latin typeface="Arial"/>
                          <a:cs typeface="Arial"/>
                        </a:rPr>
                        <a:t>Internt prosjekt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CDD5"/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36385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 spc="-10">
                          <a:latin typeface="Arial MT"/>
                          <a:cs typeface="Arial MT"/>
                        </a:rPr>
                        <a:t>Representant/kunde fra forretningsområdet som drar nytte av løsningen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C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285">
                <a:tc>
                  <a:txBody>
                    <a:bodyPr/>
                    <a:lstStyle/>
                    <a:p>
                      <a:pPr marL="137160" marR="15938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 b="1">
                          <a:latin typeface="Arial"/>
                          <a:cs typeface="Arial"/>
                        </a:rPr>
                        <a:t>Kommersielt prosjekt </a:t>
                      </a:r>
                      <a:r>
                        <a:rPr lang="nb" sz="2000" spc="-10">
                          <a:latin typeface="Arial MT"/>
                          <a:cs typeface="Arial MT"/>
                        </a:rPr>
                        <a:t>(produkt for salg til eksterne kunder)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8EB"/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817244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>
                          <a:latin typeface="Arial MT"/>
                          <a:cs typeface="Arial MT"/>
                        </a:rPr>
                        <a:t>Intern proxy for de faktiske kundene og brukerne (vanligvis en produktsjef)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19">
                <a:tc>
                  <a:txBody>
                    <a:bodyPr/>
                    <a:lstStyle/>
                    <a:p>
                      <a:pPr marL="137160" marR="32575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 b="1">
                          <a:latin typeface="Arial"/>
                          <a:cs typeface="Arial"/>
                        </a:rPr>
                        <a:t>Outsourcet prosjekt </a:t>
                      </a:r>
                      <a:r>
                        <a:rPr lang="nb" sz="2000">
                          <a:latin typeface="Arial MT"/>
                          <a:cs typeface="Arial MT"/>
                        </a:rPr>
                        <a:t>(bygg en løsning for en entreprenør)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CDD5"/>
                    </a:solidFill>
                  </a:tcPr>
                </a:tc>
                <a:tc>
                  <a:txBody>
                    <a:bodyPr/>
                    <a:lstStyle/>
                    <a:p>
                      <a:pPr marL="136525" marR="105664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lang="nb" sz="2000" spc="-10" dirty="0">
                          <a:latin typeface="Arial MT"/>
                          <a:cs typeface="Arial MT"/>
                        </a:rPr>
                        <a:t>Representant/kunde fra selskapet som betaler for løsningen og mottar fordelene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C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19">
                <a:tc>
                  <a:txBody>
                    <a:bodyPr/>
                    <a:lstStyle/>
                    <a:p>
                      <a:pPr marL="136525" marR="4572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lang="nb" sz="2000" b="1">
                          <a:latin typeface="Arial"/>
                          <a:cs typeface="Arial"/>
                        </a:rPr>
                        <a:t>Komponentteam </a:t>
                      </a:r>
                      <a:r>
                        <a:rPr lang="nb" sz="2000" spc="-10">
                          <a:latin typeface="Arial MT"/>
                          <a:cs typeface="Arial MT"/>
                        </a:rPr>
                        <a:t>(bygge deler av kundeløsninger)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8EB"/>
                    </a:solidFill>
                  </a:tcPr>
                </a:tc>
                <a:tc>
                  <a:txBody>
                    <a:bodyPr/>
                    <a:lstStyle/>
                    <a:p>
                      <a:pPr marL="136525" marR="18034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lang="nb" sz="2000" spc="-30" dirty="0">
                          <a:latin typeface="Arial MT"/>
                          <a:cs typeface="Arial MT"/>
                        </a:rPr>
                        <a:t>Vanligvis en teknisk person som best kan prioritere etterslepet av tekniske elementer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903" y="323292"/>
            <a:ext cx="54298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/>
              <a:t>Ett prosjekt, flere team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5590" y="2006021"/>
            <a:ext cx="9360807" cy="394151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C2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75352" y="5325694"/>
            <a:ext cx="3065145" cy="1532890"/>
          </a:xfrm>
          <a:custGeom>
            <a:avLst/>
            <a:gdLst/>
            <a:ahLst/>
            <a:cxnLst/>
            <a:rect l="l" t="t" r="r" b="b"/>
            <a:pathLst>
              <a:path w="3065145" h="1532890">
                <a:moveTo>
                  <a:pt x="1532305" y="0"/>
                </a:moveTo>
                <a:lnTo>
                  <a:pt x="0" y="1532305"/>
                </a:lnTo>
                <a:lnTo>
                  <a:pt x="3064598" y="1532305"/>
                </a:lnTo>
                <a:lnTo>
                  <a:pt x="1532305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220970" cy="3089910"/>
          </a:xfrm>
          <a:custGeom>
            <a:avLst/>
            <a:gdLst/>
            <a:ahLst/>
            <a:cxnLst/>
            <a:rect l="l" t="t" r="r" b="b"/>
            <a:pathLst>
              <a:path w="5220970" h="3089910">
                <a:moveTo>
                  <a:pt x="5220944" y="345046"/>
                </a:moveTo>
                <a:lnTo>
                  <a:pt x="4126839" y="345046"/>
                </a:lnTo>
                <a:lnTo>
                  <a:pt x="4471886" y="0"/>
                </a:lnTo>
                <a:lnTo>
                  <a:pt x="0" y="0"/>
                </a:lnTo>
                <a:lnTo>
                  <a:pt x="0" y="1706905"/>
                </a:lnTo>
                <a:lnTo>
                  <a:pt x="1382496" y="3089402"/>
                </a:lnTo>
                <a:lnTo>
                  <a:pt x="3698176" y="773722"/>
                </a:lnTo>
                <a:lnTo>
                  <a:pt x="4245229" y="1320761"/>
                </a:lnTo>
                <a:lnTo>
                  <a:pt x="5220944" y="345046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7877" y="749147"/>
            <a:ext cx="393065" cy="196850"/>
          </a:xfrm>
          <a:custGeom>
            <a:avLst/>
            <a:gdLst/>
            <a:ahLst/>
            <a:cxnLst/>
            <a:rect l="l" t="t" r="r" b="b"/>
            <a:pathLst>
              <a:path w="393064" h="196850">
                <a:moveTo>
                  <a:pt x="392556" y="0"/>
                </a:moveTo>
                <a:lnTo>
                  <a:pt x="0" y="0"/>
                </a:lnTo>
                <a:lnTo>
                  <a:pt x="196278" y="196278"/>
                </a:lnTo>
                <a:lnTo>
                  <a:pt x="392556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701549"/>
            <a:ext cx="1161415" cy="1160780"/>
          </a:xfrm>
          <a:custGeom>
            <a:avLst/>
            <a:gdLst/>
            <a:ahLst/>
            <a:cxnLst/>
            <a:rect l="l" t="t" r="r" b="b"/>
            <a:pathLst>
              <a:path w="1161415" h="1160780">
                <a:moveTo>
                  <a:pt x="1161288" y="0"/>
                </a:moveTo>
                <a:lnTo>
                  <a:pt x="0" y="0"/>
                </a:lnTo>
                <a:lnTo>
                  <a:pt x="0" y="1160526"/>
                </a:lnTo>
                <a:lnTo>
                  <a:pt x="1161288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812" y="365429"/>
            <a:ext cx="855471" cy="3745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3049" y="2263715"/>
            <a:ext cx="37217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4400">
                <a:solidFill>
                  <a:srgbClr val="FFFFFF"/>
                </a:solidFill>
              </a:rPr>
              <a:t>Scrum Master</a:t>
            </a:r>
            <a:endParaRPr sz="440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/>
              <a:t>Scrum Master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nb" sz="2800" b="0" spc="-10">
                <a:latin typeface="Arial MT"/>
                <a:cs typeface="Arial MT"/>
              </a:rPr>
              <a:t>Roller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4740" y="1547821"/>
            <a:ext cx="5192014" cy="4535216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85"/>
              </a:spcBef>
              <a:buChar char="•"/>
              <a:tabLst>
                <a:tab pos="240665" algn="l"/>
              </a:tabLst>
            </a:pPr>
            <a:r>
              <a:rPr lang="nb" sz="3200" spc="-10" dirty="0">
                <a:latin typeface="Arial MT"/>
                <a:cs typeface="Arial MT"/>
              </a:rPr>
              <a:t>Coach</a:t>
            </a:r>
            <a:endParaRPr sz="3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85"/>
              </a:spcBef>
              <a:buChar char="•"/>
              <a:tabLst>
                <a:tab pos="240665" algn="l"/>
              </a:tabLst>
            </a:pPr>
            <a:r>
              <a:rPr lang="nb" sz="3200" dirty="0">
                <a:latin typeface="Arial MT"/>
                <a:cs typeface="Arial MT"/>
              </a:rPr>
              <a:t>Tjenende leder (servant leader)</a:t>
            </a:r>
            <a:endParaRPr sz="3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80"/>
              </a:spcBef>
              <a:buChar char="•"/>
              <a:tabLst>
                <a:tab pos="240665" algn="l"/>
              </a:tabLst>
            </a:pPr>
            <a:r>
              <a:rPr lang="nb-NO" sz="3200" dirty="0">
                <a:latin typeface="Arial MT"/>
                <a:cs typeface="Arial MT"/>
              </a:rPr>
              <a:t>Prosessmyndighet</a:t>
            </a:r>
          </a:p>
          <a:p>
            <a:pPr marL="240665" indent="-227965">
              <a:lnSpc>
                <a:spcPct val="100000"/>
              </a:lnSpc>
              <a:spcBef>
                <a:spcPts val="1380"/>
              </a:spcBef>
              <a:buChar char="•"/>
              <a:tabLst>
                <a:tab pos="240665" algn="l"/>
              </a:tabLst>
            </a:pPr>
            <a:r>
              <a:rPr lang="nb-NO" sz="3200" dirty="0">
                <a:latin typeface="Arial MT"/>
                <a:cs typeface="Arial MT"/>
              </a:rPr>
              <a:t>Skjerm mot forstyrrelser</a:t>
            </a:r>
            <a:endParaRPr sz="3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Char char="•"/>
              <a:tabLst>
                <a:tab pos="240665" algn="l"/>
              </a:tabLst>
            </a:pPr>
            <a:r>
              <a:rPr lang="nb" sz="3200" dirty="0">
                <a:latin typeface="Arial MT"/>
                <a:cs typeface="Arial MT"/>
              </a:rPr>
              <a:t>Fjerner hindringer</a:t>
            </a:r>
            <a:endParaRPr sz="3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80"/>
              </a:spcBef>
              <a:buChar char="•"/>
              <a:tabLst>
                <a:tab pos="240665" algn="l"/>
              </a:tabLst>
            </a:pPr>
            <a:r>
              <a:rPr lang="nb" sz="3200" dirty="0">
                <a:latin typeface="Arial MT"/>
                <a:cs typeface="Arial MT"/>
              </a:rPr>
              <a:t>Endringsagent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246" y="1493519"/>
            <a:ext cx="4535424" cy="459332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ts val="3675"/>
              </a:lnSpc>
              <a:spcBef>
                <a:spcPts val="95"/>
              </a:spcBef>
            </a:pPr>
            <a:r>
              <a:rPr lang="nb"/>
              <a:t>Scrum Master</a:t>
            </a:r>
          </a:p>
          <a:p>
            <a:pPr marL="89535">
              <a:lnSpc>
                <a:spcPts val="3195"/>
              </a:lnSpc>
            </a:pPr>
            <a:r>
              <a:rPr lang="nb" sz="2800" b="0" spc="-10">
                <a:latin typeface="Arial MT"/>
                <a:cs typeface="Arial MT"/>
              </a:rPr>
              <a:t>Ansvar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343" y="1928731"/>
            <a:ext cx="6631940" cy="4301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lang="nb" sz="2200" spc="-10" dirty="0">
                <a:latin typeface="Arial MT"/>
                <a:cs typeface="Arial MT"/>
              </a:rPr>
              <a:t>Skap et produkt med høy verdi</a:t>
            </a:r>
            <a:endParaRPr sz="2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95"/>
              </a:spcBef>
              <a:buChar char="•"/>
              <a:tabLst>
                <a:tab pos="240665" algn="l"/>
              </a:tabLst>
            </a:pPr>
            <a:r>
              <a:rPr lang="nb" sz="2200" dirty="0">
                <a:latin typeface="Arial MT"/>
                <a:cs typeface="Arial MT"/>
              </a:rPr>
              <a:t>Beskytt teamet</a:t>
            </a:r>
            <a:endParaRPr sz="2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5"/>
              </a:spcBef>
              <a:buChar char="•"/>
              <a:tabLst>
                <a:tab pos="240665" algn="l"/>
              </a:tabLst>
            </a:pPr>
            <a:r>
              <a:rPr lang="nb" sz="2200" dirty="0">
                <a:latin typeface="Arial MT"/>
                <a:cs typeface="Arial MT"/>
              </a:rPr>
              <a:t>Fjern hindringer</a:t>
            </a:r>
            <a:endParaRPr sz="2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95"/>
              </a:spcBef>
              <a:buChar char="•"/>
              <a:tabLst>
                <a:tab pos="240665" algn="l"/>
              </a:tabLst>
            </a:pPr>
            <a:r>
              <a:rPr lang="nb" sz="2200" dirty="0">
                <a:latin typeface="Arial MT"/>
                <a:cs typeface="Arial MT"/>
              </a:rPr>
              <a:t>Hjelpe teamet med å øke produktiviteten</a:t>
            </a:r>
            <a:endParaRPr sz="2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95"/>
              </a:spcBef>
              <a:buChar char="•"/>
              <a:tabLst>
                <a:tab pos="240665" algn="l"/>
              </a:tabLst>
            </a:pPr>
            <a:r>
              <a:rPr lang="nb" sz="2200" dirty="0">
                <a:latin typeface="Arial MT"/>
                <a:cs typeface="Arial MT"/>
              </a:rPr>
              <a:t>Fremme selvorganisering og kryssfunksjonalitet</a:t>
            </a:r>
            <a:endParaRPr sz="2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90"/>
              </a:spcBef>
              <a:buChar char="•"/>
              <a:tabLst>
                <a:tab pos="240665" algn="l"/>
              </a:tabLst>
            </a:pPr>
            <a:r>
              <a:rPr lang="nb" sz="2200" dirty="0">
                <a:latin typeface="Arial MT"/>
                <a:cs typeface="Arial MT"/>
              </a:rPr>
              <a:t>Moderer samarbeid og megle uenigheter</a:t>
            </a:r>
            <a:endParaRPr sz="2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Char char="•"/>
              <a:tabLst>
                <a:tab pos="240665" algn="l"/>
              </a:tabLst>
            </a:pPr>
            <a:r>
              <a:rPr lang="nb" sz="2200" dirty="0">
                <a:latin typeface="Arial MT"/>
                <a:cs typeface="Arial MT"/>
              </a:rPr>
              <a:t>Coache implementeringen av Scrum-prosessen</a:t>
            </a:r>
            <a:endParaRPr sz="2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95"/>
              </a:spcBef>
              <a:buChar char="•"/>
              <a:tabLst>
                <a:tab pos="240665" algn="l"/>
              </a:tabLst>
            </a:pPr>
            <a:r>
              <a:rPr lang="nb" sz="2200" dirty="0">
                <a:latin typeface="Arial MT"/>
                <a:cs typeface="Arial MT"/>
              </a:rPr>
              <a:t>Tilrettelegge for Scrum-events og møter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pc="-20"/>
              <a:t>Trekk ved en god Scrum Master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0564" y="1847850"/>
            <a:ext cx="4709921" cy="45925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05563" y="1577813"/>
            <a:ext cx="2929908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3200" spc="-10" dirty="0">
                <a:latin typeface="Arial MT"/>
                <a:cs typeface="Arial MT"/>
              </a:rPr>
              <a:t>Innflytelsesrik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6110" y="4878968"/>
            <a:ext cx="20320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3200" spc="-10">
                <a:latin typeface="Arial MT"/>
                <a:cs typeface="Arial MT"/>
              </a:rPr>
              <a:t>Ledelse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-201707" y="1984365"/>
            <a:ext cx="480386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19225">
              <a:lnSpc>
                <a:spcPct val="100000"/>
              </a:lnSpc>
              <a:spcBef>
                <a:spcPts val="95"/>
              </a:spcBef>
            </a:pPr>
            <a:r>
              <a:rPr lang="nb" sz="3200" spc="-10" dirty="0">
                <a:latin typeface="Arial MT"/>
                <a:cs typeface="Arial MT"/>
              </a:rPr>
              <a:t>Tilpasningsdyktige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3624" y="1745145"/>
            <a:ext cx="3171825" cy="1567180"/>
          </a:xfrm>
          <a:prstGeom prst="rect">
            <a:avLst/>
          </a:prstGeom>
        </p:spPr>
        <p:txBody>
          <a:bodyPr vert="horz" wrap="square" lIns="0" tIns="295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lang="nb" sz="3200" spc="-10">
                <a:latin typeface="Arial MT"/>
                <a:cs typeface="Arial MT"/>
              </a:rPr>
              <a:t>Proaktiv</a:t>
            </a:r>
            <a:endParaRPr sz="3200">
              <a:latin typeface="Arial MT"/>
              <a:cs typeface="Arial MT"/>
            </a:endParaRPr>
          </a:p>
          <a:p>
            <a:pPr marL="790575">
              <a:lnSpc>
                <a:spcPct val="100000"/>
              </a:lnSpc>
              <a:spcBef>
                <a:spcPts val="2230"/>
              </a:spcBef>
            </a:pPr>
            <a:r>
              <a:rPr lang="nb" sz="3200" spc="-10">
                <a:latin typeface="Arial MT"/>
                <a:cs typeface="Arial MT"/>
              </a:rPr>
              <a:t>Samarbeid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8736" y="4878968"/>
            <a:ext cx="2570751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3200" spc="-10" dirty="0">
                <a:latin typeface="Arial MT"/>
                <a:cs typeface="Arial MT"/>
              </a:rPr>
              <a:t>Oppmerksom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9714" y="3844514"/>
            <a:ext cx="25730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3200">
                <a:latin typeface="Arial MT"/>
                <a:cs typeface="Arial MT"/>
              </a:rPr>
              <a:t>God lytter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13499" y="3862384"/>
            <a:ext cx="296195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3200" dirty="0">
                <a:latin typeface="Arial MT"/>
                <a:cs typeface="Arial MT"/>
              </a:rPr>
              <a:t>PM-ekspertise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D04FDA3E-7036-59E5-4B6C-DD2F7CC9C7A3}"/>
              </a:ext>
            </a:extLst>
          </p:cNvPr>
          <p:cNvSpPr txBox="1"/>
          <p:nvPr/>
        </p:nvSpPr>
        <p:spPr>
          <a:xfrm>
            <a:off x="747134" y="2874364"/>
            <a:ext cx="3010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200" dirty="0"/>
              <a:t>Kunnskapsrik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/>
              <a:t>Scrum Master, en heltidsrolle?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343" y="2023981"/>
            <a:ext cx="9023350" cy="3649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lang="nb" sz="3200" dirty="0">
                <a:latin typeface="Arial MT"/>
                <a:cs typeface="Arial MT"/>
              </a:rPr>
              <a:t>Sannsynligvis ikke</a:t>
            </a:r>
            <a:endParaRPr sz="3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925"/>
              </a:spcBef>
              <a:buChar char="•"/>
              <a:tabLst>
                <a:tab pos="240665" algn="l"/>
              </a:tabLst>
            </a:pPr>
            <a:r>
              <a:rPr lang="nb" sz="3200" dirty="0">
                <a:latin typeface="Arial MT"/>
                <a:cs typeface="Arial MT"/>
              </a:rPr>
              <a:t>Mest å gjøre i etableringsfasen for et team</a:t>
            </a:r>
            <a:endParaRPr sz="3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915"/>
              </a:spcBef>
              <a:buChar char="•"/>
              <a:tabLst>
                <a:tab pos="240665" algn="l"/>
              </a:tabLst>
            </a:pPr>
            <a:r>
              <a:rPr lang="nb" sz="3200" dirty="0">
                <a:latin typeface="Arial MT"/>
                <a:cs typeface="Arial MT"/>
              </a:rPr>
              <a:t>Kan kombineres med andre roller</a:t>
            </a:r>
            <a:endParaRPr sz="32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285"/>
              </a:spcBef>
              <a:buChar char="•"/>
              <a:tabLst>
                <a:tab pos="697865" algn="l"/>
              </a:tabLst>
            </a:pPr>
            <a:r>
              <a:rPr lang="nb" sz="2800" dirty="0">
                <a:latin typeface="Arial MT"/>
                <a:cs typeface="Arial MT"/>
              </a:rPr>
              <a:t>BA, teknisk leder, utvikler, tester, etc.</a:t>
            </a:r>
            <a:endParaRPr sz="28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2175"/>
              </a:spcBef>
              <a:buChar char="•"/>
              <a:tabLst>
                <a:tab pos="697865" algn="l"/>
              </a:tabLst>
            </a:pPr>
            <a:r>
              <a:rPr lang="nb" sz="2800" b="1" dirty="0">
                <a:latin typeface="Arial MT"/>
                <a:cs typeface="Arial MT"/>
              </a:rPr>
              <a:t>ikke produkteier!</a:t>
            </a:r>
            <a:endParaRPr sz="2800" b="1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31664" y="6583489"/>
            <a:ext cx="11874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nb" sz="700" spc="-25">
                <a:latin typeface="Arial MT"/>
                <a:cs typeface="Arial MT"/>
              </a:rPr>
              <a:t>22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47" y="1123950"/>
            <a:ext cx="11881103" cy="528142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C2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75352" y="5325694"/>
            <a:ext cx="3065145" cy="1532890"/>
          </a:xfrm>
          <a:custGeom>
            <a:avLst/>
            <a:gdLst/>
            <a:ahLst/>
            <a:cxnLst/>
            <a:rect l="l" t="t" r="r" b="b"/>
            <a:pathLst>
              <a:path w="3065145" h="1532890">
                <a:moveTo>
                  <a:pt x="1532305" y="0"/>
                </a:moveTo>
                <a:lnTo>
                  <a:pt x="0" y="1532305"/>
                </a:lnTo>
                <a:lnTo>
                  <a:pt x="3064598" y="1532305"/>
                </a:lnTo>
                <a:lnTo>
                  <a:pt x="1532305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220970" cy="3089910"/>
          </a:xfrm>
          <a:custGeom>
            <a:avLst/>
            <a:gdLst/>
            <a:ahLst/>
            <a:cxnLst/>
            <a:rect l="l" t="t" r="r" b="b"/>
            <a:pathLst>
              <a:path w="5220970" h="3089910">
                <a:moveTo>
                  <a:pt x="5220944" y="345046"/>
                </a:moveTo>
                <a:lnTo>
                  <a:pt x="4126839" y="345046"/>
                </a:lnTo>
                <a:lnTo>
                  <a:pt x="4471886" y="0"/>
                </a:lnTo>
                <a:lnTo>
                  <a:pt x="0" y="0"/>
                </a:lnTo>
                <a:lnTo>
                  <a:pt x="0" y="1706905"/>
                </a:lnTo>
                <a:lnTo>
                  <a:pt x="1382496" y="3089402"/>
                </a:lnTo>
                <a:lnTo>
                  <a:pt x="3698176" y="773722"/>
                </a:lnTo>
                <a:lnTo>
                  <a:pt x="4245229" y="1320761"/>
                </a:lnTo>
                <a:lnTo>
                  <a:pt x="5220944" y="345046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77877" y="749147"/>
            <a:ext cx="393065" cy="196850"/>
          </a:xfrm>
          <a:custGeom>
            <a:avLst/>
            <a:gdLst/>
            <a:ahLst/>
            <a:cxnLst/>
            <a:rect l="l" t="t" r="r" b="b"/>
            <a:pathLst>
              <a:path w="393064" h="196850">
                <a:moveTo>
                  <a:pt x="392556" y="0"/>
                </a:moveTo>
                <a:lnTo>
                  <a:pt x="0" y="0"/>
                </a:lnTo>
                <a:lnTo>
                  <a:pt x="196278" y="196278"/>
                </a:lnTo>
                <a:lnTo>
                  <a:pt x="392556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701549"/>
            <a:ext cx="1161415" cy="1160780"/>
          </a:xfrm>
          <a:custGeom>
            <a:avLst/>
            <a:gdLst/>
            <a:ahLst/>
            <a:cxnLst/>
            <a:rect l="l" t="t" r="r" b="b"/>
            <a:pathLst>
              <a:path w="1161415" h="1160780">
                <a:moveTo>
                  <a:pt x="1161288" y="0"/>
                </a:moveTo>
                <a:lnTo>
                  <a:pt x="0" y="0"/>
                </a:lnTo>
                <a:lnTo>
                  <a:pt x="0" y="1160526"/>
                </a:lnTo>
                <a:lnTo>
                  <a:pt x="1161288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812" y="365429"/>
            <a:ext cx="855471" cy="3745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3049" y="2263715"/>
            <a:ext cx="51123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4400" dirty="0">
                <a:solidFill>
                  <a:srgbClr val="FFFFFF"/>
                </a:solidFill>
              </a:rPr>
              <a:t>Spørsmål</a:t>
            </a:r>
            <a:endParaRPr sz="44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DC96-EDB8-4961-1F3E-CC87B604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78A45E-1F6B-D0E7-E0F8-914EEED08B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C2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7586239-BDAC-DA6D-1911-83857806A6E9}"/>
              </a:ext>
            </a:extLst>
          </p:cNvPr>
          <p:cNvSpPr/>
          <p:nvPr/>
        </p:nvSpPr>
        <p:spPr>
          <a:xfrm>
            <a:off x="4875352" y="5325694"/>
            <a:ext cx="3065145" cy="1532890"/>
          </a:xfrm>
          <a:custGeom>
            <a:avLst/>
            <a:gdLst/>
            <a:ahLst/>
            <a:cxnLst/>
            <a:rect l="l" t="t" r="r" b="b"/>
            <a:pathLst>
              <a:path w="3065145" h="1532890">
                <a:moveTo>
                  <a:pt x="1532305" y="0"/>
                </a:moveTo>
                <a:lnTo>
                  <a:pt x="0" y="1532305"/>
                </a:lnTo>
                <a:lnTo>
                  <a:pt x="3064598" y="1532305"/>
                </a:lnTo>
                <a:lnTo>
                  <a:pt x="1532305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CE8F9FF-6C41-B718-F706-971AF4D8B31D}"/>
              </a:ext>
            </a:extLst>
          </p:cNvPr>
          <p:cNvSpPr/>
          <p:nvPr/>
        </p:nvSpPr>
        <p:spPr>
          <a:xfrm>
            <a:off x="0" y="0"/>
            <a:ext cx="5220970" cy="3089910"/>
          </a:xfrm>
          <a:custGeom>
            <a:avLst/>
            <a:gdLst/>
            <a:ahLst/>
            <a:cxnLst/>
            <a:rect l="l" t="t" r="r" b="b"/>
            <a:pathLst>
              <a:path w="5220970" h="3089910">
                <a:moveTo>
                  <a:pt x="5220944" y="345046"/>
                </a:moveTo>
                <a:lnTo>
                  <a:pt x="4126839" y="345046"/>
                </a:lnTo>
                <a:lnTo>
                  <a:pt x="4471886" y="0"/>
                </a:lnTo>
                <a:lnTo>
                  <a:pt x="0" y="0"/>
                </a:lnTo>
                <a:lnTo>
                  <a:pt x="0" y="1706905"/>
                </a:lnTo>
                <a:lnTo>
                  <a:pt x="1382496" y="3089402"/>
                </a:lnTo>
                <a:lnTo>
                  <a:pt x="3698176" y="773722"/>
                </a:lnTo>
                <a:lnTo>
                  <a:pt x="4245229" y="1320761"/>
                </a:lnTo>
                <a:lnTo>
                  <a:pt x="5220944" y="345046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AA9CB4-D9D1-DA79-31DD-1C312D005A85}"/>
              </a:ext>
            </a:extLst>
          </p:cNvPr>
          <p:cNvSpPr/>
          <p:nvPr/>
        </p:nvSpPr>
        <p:spPr>
          <a:xfrm>
            <a:off x="5377877" y="749147"/>
            <a:ext cx="393065" cy="196850"/>
          </a:xfrm>
          <a:custGeom>
            <a:avLst/>
            <a:gdLst/>
            <a:ahLst/>
            <a:cxnLst/>
            <a:rect l="l" t="t" r="r" b="b"/>
            <a:pathLst>
              <a:path w="393064" h="196850">
                <a:moveTo>
                  <a:pt x="392556" y="0"/>
                </a:moveTo>
                <a:lnTo>
                  <a:pt x="0" y="0"/>
                </a:lnTo>
                <a:lnTo>
                  <a:pt x="196278" y="196278"/>
                </a:lnTo>
                <a:lnTo>
                  <a:pt x="392556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0925286-48E8-11D0-5077-CA0B6BD89CCF}"/>
              </a:ext>
            </a:extLst>
          </p:cNvPr>
          <p:cNvSpPr/>
          <p:nvPr/>
        </p:nvSpPr>
        <p:spPr>
          <a:xfrm>
            <a:off x="0" y="1701549"/>
            <a:ext cx="1161415" cy="1160780"/>
          </a:xfrm>
          <a:custGeom>
            <a:avLst/>
            <a:gdLst/>
            <a:ahLst/>
            <a:cxnLst/>
            <a:rect l="l" t="t" r="r" b="b"/>
            <a:pathLst>
              <a:path w="1161415" h="1160780">
                <a:moveTo>
                  <a:pt x="1161288" y="0"/>
                </a:moveTo>
                <a:lnTo>
                  <a:pt x="0" y="0"/>
                </a:lnTo>
                <a:lnTo>
                  <a:pt x="0" y="1160526"/>
                </a:lnTo>
                <a:lnTo>
                  <a:pt x="1161288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436354F0-26A4-8749-3B83-5080C2E4D9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812" y="365429"/>
            <a:ext cx="855471" cy="37450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1A47976D-2B22-ACC9-2959-114935E1E1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049" y="2263715"/>
            <a:ext cx="51123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4400" dirty="0">
                <a:solidFill>
                  <a:srgbClr val="FFFFFF"/>
                </a:solidFill>
              </a:rPr>
              <a:t>Pause 15 min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660992801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9A19-676B-E5D3-F65E-C8AFF15B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52C774-2CFB-5BAF-CABF-74182B8C23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C2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49F805B-F4FA-CF53-7E2E-1AD3FEF8D40A}"/>
              </a:ext>
            </a:extLst>
          </p:cNvPr>
          <p:cNvSpPr/>
          <p:nvPr/>
        </p:nvSpPr>
        <p:spPr>
          <a:xfrm>
            <a:off x="4875352" y="5325694"/>
            <a:ext cx="3065145" cy="1532890"/>
          </a:xfrm>
          <a:custGeom>
            <a:avLst/>
            <a:gdLst/>
            <a:ahLst/>
            <a:cxnLst/>
            <a:rect l="l" t="t" r="r" b="b"/>
            <a:pathLst>
              <a:path w="3065145" h="1532890">
                <a:moveTo>
                  <a:pt x="1532305" y="0"/>
                </a:moveTo>
                <a:lnTo>
                  <a:pt x="0" y="1532305"/>
                </a:lnTo>
                <a:lnTo>
                  <a:pt x="3064598" y="1532305"/>
                </a:lnTo>
                <a:lnTo>
                  <a:pt x="1532305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652433B-D411-706E-B58A-5274FEF046EF}"/>
              </a:ext>
            </a:extLst>
          </p:cNvPr>
          <p:cNvSpPr/>
          <p:nvPr/>
        </p:nvSpPr>
        <p:spPr>
          <a:xfrm>
            <a:off x="0" y="0"/>
            <a:ext cx="5220970" cy="3089910"/>
          </a:xfrm>
          <a:custGeom>
            <a:avLst/>
            <a:gdLst/>
            <a:ahLst/>
            <a:cxnLst/>
            <a:rect l="l" t="t" r="r" b="b"/>
            <a:pathLst>
              <a:path w="5220970" h="3089910">
                <a:moveTo>
                  <a:pt x="5220944" y="345046"/>
                </a:moveTo>
                <a:lnTo>
                  <a:pt x="4126839" y="345046"/>
                </a:lnTo>
                <a:lnTo>
                  <a:pt x="4471886" y="0"/>
                </a:lnTo>
                <a:lnTo>
                  <a:pt x="0" y="0"/>
                </a:lnTo>
                <a:lnTo>
                  <a:pt x="0" y="1706905"/>
                </a:lnTo>
                <a:lnTo>
                  <a:pt x="1382496" y="3089402"/>
                </a:lnTo>
                <a:lnTo>
                  <a:pt x="3698176" y="773722"/>
                </a:lnTo>
                <a:lnTo>
                  <a:pt x="4245229" y="1320761"/>
                </a:lnTo>
                <a:lnTo>
                  <a:pt x="5220944" y="345046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E000C04-DD84-33AE-2BC5-6742B20209B2}"/>
              </a:ext>
            </a:extLst>
          </p:cNvPr>
          <p:cNvSpPr/>
          <p:nvPr/>
        </p:nvSpPr>
        <p:spPr>
          <a:xfrm>
            <a:off x="5377877" y="749147"/>
            <a:ext cx="393065" cy="196850"/>
          </a:xfrm>
          <a:custGeom>
            <a:avLst/>
            <a:gdLst/>
            <a:ahLst/>
            <a:cxnLst/>
            <a:rect l="l" t="t" r="r" b="b"/>
            <a:pathLst>
              <a:path w="393064" h="196850">
                <a:moveTo>
                  <a:pt x="392556" y="0"/>
                </a:moveTo>
                <a:lnTo>
                  <a:pt x="0" y="0"/>
                </a:lnTo>
                <a:lnTo>
                  <a:pt x="196278" y="196278"/>
                </a:lnTo>
                <a:lnTo>
                  <a:pt x="392556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B52E514-ADE4-3180-E702-0CF456FB07B3}"/>
              </a:ext>
            </a:extLst>
          </p:cNvPr>
          <p:cNvSpPr/>
          <p:nvPr/>
        </p:nvSpPr>
        <p:spPr>
          <a:xfrm>
            <a:off x="0" y="1701549"/>
            <a:ext cx="1161415" cy="1160780"/>
          </a:xfrm>
          <a:custGeom>
            <a:avLst/>
            <a:gdLst/>
            <a:ahLst/>
            <a:cxnLst/>
            <a:rect l="l" t="t" r="r" b="b"/>
            <a:pathLst>
              <a:path w="1161415" h="1160780">
                <a:moveTo>
                  <a:pt x="1161288" y="0"/>
                </a:moveTo>
                <a:lnTo>
                  <a:pt x="0" y="0"/>
                </a:lnTo>
                <a:lnTo>
                  <a:pt x="0" y="1160526"/>
                </a:lnTo>
                <a:lnTo>
                  <a:pt x="1161288" y="0"/>
                </a:lnTo>
                <a:close/>
              </a:path>
            </a:pathLst>
          </a:custGeom>
          <a:solidFill>
            <a:srgbClr val="99222C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F2BAAB39-EB51-B8D6-F5AA-E55FAA83E8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812" y="365429"/>
            <a:ext cx="855471" cy="37450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463EF4F7-5DE1-B638-C381-3571941D98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049" y="2263715"/>
            <a:ext cx="51123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4400">
                <a:solidFill>
                  <a:srgbClr val="FFFFFF"/>
                </a:solidFill>
              </a:rPr>
              <a:t>Utviklingsteamet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2742228843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343" y="1988167"/>
            <a:ext cx="6758728" cy="4140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dirty="0">
                <a:latin typeface="Arial MT"/>
                <a:cs typeface="Arial MT"/>
              </a:rPr>
              <a:t>Rafinere </a:t>
            </a:r>
            <a:r>
              <a:rPr lang="nb" sz="2400" b="1" dirty="0">
                <a:latin typeface="Arial"/>
                <a:cs typeface="Arial"/>
              </a:rPr>
              <a:t>productbacklog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dirty="0">
                <a:latin typeface="Arial"/>
                <a:cs typeface="Arial"/>
              </a:rPr>
              <a:t>Planlegg sprinten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lang="nb" sz="2400" dirty="0">
                <a:latin typeface="Arial MT"/>
                <a:cs typeface="Arial MT"/>
              </a:rPr>
              <a:t>Utfør </a:t>
            </a:r>
            <a:r>
              <a:rPr lang="nb" sz="2400" b="1" dirty="0">
                <a:latin typeface="Arial"/>
                <a:cs typeface="Arial"/>
              </a:rPr>
              <a:t>sprintgjennomføringen</a:t>
            </a:r>
            <a:endParaRPr sz="2400" dirty="0">
              <a:latin typeface="Arial"/>
              <a:cs typeface="Arial"/>
            </a:endParaRPr>
          </a:p>
          <a:p>
            <a:pPr marL="240029" marR="2037080" indent="-227329">
              <a:lnSpc>
                <a:spcPct val="15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lang="nb" sz="2400" dirty="0">
                <a:latin typeface="Arial MT"/>
                <a:cs typeface="Arial MT"/>
              </a:rPr>
              <a:t>Inspiser og tilpass hver dag (</a:t>
            </a:r>
            <a:r>
              <a:rPr lang="nb" sz="2400" b="1" dirty="0">
                <a:latin typeface="Arial"/>
                <a:cs typeface="Arial"/>
              </a:rPr>
              <a:t>daglig scrum-møte</a:t>
            </a:r>
            <a:r>
              <a:rPr lang="nb"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lang="nb" sz="2400" dirty="0">
                <a:latin typeface="Arial MT"/>
                <a:cs typeface="Arial MT"/>
              </a:rPr>
              <a:t>Inspiser og tilpass produktet og prosessen (</a:t>
            </a:r>
            <a:r>
              <a:rPr lang="nb" sz="2400" b="1" dirty="0">
                <a:latin typeface="Arial"/>
                <a:cs typeface="Arial"/>
              </a:rPr>
              <a:t>sprintgjennomgang/review og retrospektiv</a:t>
            </a:r>
            <a:r>
              <a:rPr lang="nb"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429" y="338582"/>
            <a:ext cx="3394195" cy="94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dirty="0"/>
              <a:t>Utviklerteamet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nb" sz="2800" b="0" spc="-10" dirty="0">
                <a:latin typeface="Arial MT"/>
                <a:cs typeface="Arial MT"/>
              </a:rPr>
              <a:t>Ansvar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1852" y="1552956"/>
            <a:ext cx="7088873" cy="518312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343" y="1960735"/>
            <a:ext cx="10982171" cy="4278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spc="-10" dirty="0">
                <a:latin typeface="Arial"/>
                <a:cs typeface="Arial"/>
              </a:rPr>
              <a:t>Selvorganisert: </a:t>
            </a:r>
            <a:r>
              <a:rPr lang="nb" sz="2400" dirty="0">
                <a:latin typeface="Arial MT"/>
                <a:cs typeface="Arial MT"/>
              </a:rPr>
              <a:t>Teamet bestemmer hvordan de skal nå målet med sprinten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50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dirty="0">
                <a:latin typeface="Arial"/>
                <a:cs typeface="Arial"/>
              </a:rPr>
              <a:t>Mangfoldig: </a:t>
            </a:r>
            <a:r>
              <a:rPr lang="nb" sz="2400" dirty="0">
                <a:latin typeface="Arial MT"/>
                <a:cs typeface="Arial MT"/>
              </a:rPr>
              <a:t>Ulike perspektiver og tilnærminger til problemløsning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50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spc="-80" dirty="0">
                <a:latin typeface="Arial"/>
                <a:cs typeface="Arial"/>
              </a:rPr>
              <a:t>T-formede ferdigheter: </a:t>
            </a:r>
            <a:r>
              <a:rPr lang="nb" sz="2400" dirty="0">
                <a:latin typeface="Arial MT"/>
                <a:cs typeface="Arial MT"/>
              </a:rPr>
              <a:t>Bred forståelse hjelper til med å samarbeide effektivt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55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dirty="0">
                <a:latin typeface="Arial"/>
                <a:cs typeface="Arial"/>
              </a:rPr>
              <a:t>En for alle, alle for en: </a:t>
            </a:r>
            <a:r>
              <a:rPr lang="nb" sz="2400" dirty="0">
                <a:latin typeface="Arial MT"/>
                <a:cs typeface="Arial MT"/>
              </a:rPr>
              <a:t>Deler suksesser og utfordringer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55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dirty="0">
                <a:latin typeface="Arial"/>
                <a:cs typeface="Arial"/>
              </a:rPr>
              <a:t>God kommunikasjon: </a:t>
            </a:r>
            <a:r>
              <a:rPr lang="nb" sz="2400" dirty="0">
                <a:latin typeface="Arial MT"/>
                <a:cs typeface="Arial MT"/>
              </a:rPr>
              <a:t>Viktig for både samlokaliserte og eksterne team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45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dirty="0">
                <a:latin typeface="Arial"/>
                <a:cs typeface="Arial"/>
              </a:rPr>
              <a:t>Ideell størrelse: </a:t>
            </a:r>
            <a:r>
              <a:rPr lang="nb" sz="2400" spc="-20" dirty="0">
                <a:latin typeface="Arial MT"/>
                <a:cs typeface="Arial MT"/>
              </a:rPr>
              <a:t>5-9 medlemmer for å balansere mangfold av ferdigheter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55"/>
              </a:spcBef>
              <a:buFont typeface="Arial MT"/>
              <a:buChar char="•"/>
              <a:tabLst>
                <a:tab pos="240029" algn="l"/>
              </a:tabLst>
            </a:pPr>
            <a:r>
              <a:rPr lang="nb" sz="2400" b="1" dirty="0">
                <a:latin typeface="Arial"/>
                <a:cs typeface="Arial"/>
              </a:rPr>
              <a:t>Bærekraftig tempo: </a:t>
            </a:r>
            <a:r>
              <a:rPr lang="nb" sz="2400" dirty="0">
                <a:latin typeface="Arial MT"/>
                <a:cs typeface="Arial MT"/>
              </a:rPr>
              <a:t>Vedvarende langsiktig uten utbrenthet i teamet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31664" y="6583489"/>
            <a:ext cx="11874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nb" sz="700" spc="-25">
                <a:latin typeface="Arial MT"/>
                <a:cs typeface="Arial MT"/>
              </a:rPr>
              <a:t>26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4429" y="338582"/>
            <a:ext cx="3441259" cy="94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dirty="0"/>
              <a:t>Utviklerteamet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nb" sz="2800" b="0" spc="-10" dirty="0">
                <a:latin typeface="Arial MT"/>
                <a:cs typeface="Arial MT"/>
              </a:rPr>
              <a:t>Egenskaper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95"/>
              </a:spcBef>
            </a:pPr>
            <a:r>
              <a:rPr lang="nb"/>
              <a:t>Mer enn ett Scrum-team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3153" y="1732026"/>
            <a:ext cx="8984741" cy="459257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95"/>
              </a:spcBef>
            </a:pPr>
            <a:r>
              <a:rPr lang="nb"/>
              <a:t>Scrum av Scrums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81783" y="1838705"/>
            <a:ext cx="7877175" cy="3168650"/>
            <a:chOff x="2081783" y="1838705"/>
            <a:chExt cx="7877175" cy="31686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2471" y="1838705"/>
              <a:ext cx="7581125" cy="31683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00833" y="2597657"/>
              <a:ext cx="7839075" cy="314960"/>
            </a:xfrm>
            <a:custGeom>
              <a:avLst/>
              <a:gdLst/>
              <a:ahLst/>
              <a:cxnLst/>
              <a:rect l="l" t="t" r="r" b="b"/>
              <a:pathLst>
                <a:path w="7839075" h="314960">
                  <a:moveTo>
                    <a:pt x="0" y="314706"/>
                  </a:moveTo>
                  <a:lnTo>
                    <a:pt x="4492" y="260571"/>
                  </a:lnTo>
                  <a:lnTo>
                    <a:pt x="21138" y="216783"/>
                  </a:lnTo>
                  <a:lnTo>
                    <a:pt x="47995" y="184327"/>
                  </a:lnTo>
                  <a:lnTo>
                    <a:pt x="83122" y="164188"/>
                  </a:lnTo>
                  <a:lnTo>
                    <a:pt x="124574" y="157353"/>
                  </a:lnTo>
                  <a:lnTo>
                    <a:pt x="180932" y="152108"/>
                  </a:lnTo>
                  <a:lnTo>
                    <a:pt x="245940" y="147918"/>
                  </a:lnTo>
                  <a:lnTo>
                    <a:pt x="319066" y="144718"/>
                  </a:lnTo>
                  <a:lnTo>
                    <a:pt x="358507" y="143468"/>
                  </a:lnTo>
                  <a:lnTo>
                    <a:pt x="399778" y="142440"/>
                  </a:lnTo>
                  <a:lnTo>
                    <a:pt x="442812" y="141627"/>
                  </a:lnTo>
                  <a:lnTo>
                    <a:pt x="487543" y="141020"/>
                  </a:lnTo>
                  <a:lnTo>
                    <a:pt x="533905" y="140610"/>
                  </a:lnTo>
                  <a:lnTo>
                    <a:pt x="581830" y="140390"/>
                  </a:lnTo>
                  <a:lnTo>
                    <a:pt x="631252" y="140352"/>
                  </a:lnTo>
                  <a:lnTo>
                    <a:pt x="682106" y="140486"/>
                  </a:lnTo>
                  <a:lnTo>
                    <a:pt x="734323" y="140785"/>
                  </a:lnTo>
                  <a:lnTo>
                    <a:pt x="787838" y="141240"/>
                  </a:lnTo>
                  <a:lnTo>
                    <a:pt x="842584" y="141843"/>
                  </a:lnTo>
                  <a:lnTo>
                    <a:pt x="898495" y="142587"/>
                  </a:lnTo>
                  <a:lnTo>
                    <a:pt x="955504" y="143462"/>
                  </a:lnTo>
                  <a:lnTo>
                    <a:pt x="1013545" y="144460"/>
                  </a:lnTo>
                  <a:lnTo>
                    <a:pt x="1072550" y="145574"/>
                  </a:lnTo>
                  <a:lnTo>
                    <a:pt x="1132454" y="146795"/>
                  </a:lnTo>
                  <a:lnTo>
                    <a:pt x="1193191" y="148114"/>
                  </a:lnTo>
                  <a:lnTo>
                    <a:pt x="1254692" y="149523"/>
                  </a:lnTo>
                  <a:lnTo>
                    <a:pt x="1316893" y="151015"/>
                  </a:lnTo>
                  <a:lnTo>
                    <a:pt x="1379726" y="152581"/>
                  </a:lnTo>
                  <a:lnTo>
                    <a:pt x="1443125" y="154212"/>
                  </a:lnTo>
                  <a:lnTo>
                    <a:pt x="1507023" y="155900"/>
                  </a:lnTo>
                  <a:lnTo>
                    <a:pt x="1571354" y="157638"/>
                  </a:lnTo>
                  <a:lnTo>
                    <a:pt x="1636051" y="159417"/>
                  </a:lnTo>
                  <a:lnTo>
                    <a:pt x="1701049" y="161228"/>
                  </a:lnTo>
                  <a:lnTo>
                    <a:pt x="1766279" y="163063"/>
                  </a:lnTo>
                  <a:lnTo>
                    <a:pt x="1831676" y="164914"/>
                  </a:lnTo>
                  <a:lnTo>
                    <a:pt x="1897174" y="166774"/>
                  </a:lnTo>
                  <a:lnTo>
                    <a:pt x="1962705" y="168633"/>
                  </a:lnTo>
                  <a:lnTo>
                    <a:pt x="2028203" y="170483"/>
                  </a:lnTo>
                  <a:lnTo>
                    <a:pt x="2093602" y="172316"/>
                  </a:lnTo>
                  <a:lnTo>
                    <a:pt x="2158835" y="174124"/>
                  </a:lnTo>
                  <a:lnTo>
                    <a:pt x="2223835" y="175898"/>
                  </a:lnTo>
                  <a:lnTo>
                    <a:pt x="2288537" y="177631"/>
                  </a:lnTo>
                  <a:lnTo>
                    <a:pt x="2352873" y="179314"/>
                  </a:lnTo>
                  <a:lnTo>
                    <a:pt x="2416777" y="180938"/>
                  </a:lnTo>
                  <a:lnTo>
                    <a:pt x="2480183" y="182496"/>
                  </a:lnTo>
                  <a:lnTo>
                    <a:pt x="2543023" y="183979"/>
                  </a:lnTo>
                  <a:lnTo>
                    <a:pt x="2605232" y="185379"/>
                  </a:lnTo>
                  <a:lnTo>
                    <a:pt x="2666743" y="186688"/>
                  </a:lnTo>
                  <a:lnTo>
                    <a:pt x="2727490" y="187898"/>
                  </a:lnTo>
                  <a:lnTo>
                    <a:pt x="2787405" y="188999"/>
                  </a:lnTo>
                  <a:lnTo>
                    <a:pt x="2846422" y="189985"/>
                  </a:lnTo>
                  <a:lnTo>
                    <a:pt x="2904475" y="190846"/>
                  </a:lnTo>
                  <a:lnTo>
                    <a:pt x="2961498" y="191575"/>
                  </a:lnTo>
                  <a:lnTo>
                    <a:pt x="3017423" y="192163"/>
                  </a:lnTo>
                  <a:lnTo>
                    <a:pt x="3072184" y="192601"/>
                  </a:lnTo>
                  <a:lnTo>
                    <a:pt x="3125715" y="192883"/>
                  </a:lnTo>
                  <a:lnTo>
                    <a:pt x="3177950" y="192999"/>
                  </a:lnTo>
                  <a:lnTo>
                    <a:pt x="3228821" y="192940"/>
                  </a:lnTo>
                  <a:lnTo>
                    <a:pt x="3278262" y="192700"/>
                  </a:lnTo>
                  <a:lnTo>
                    <a:pt x="3326206" y="192270"/>
                  </a:lnTo>
                  <a:lnTo>
                    <a:pt x="3372588" y="191641"/>
                  </a:lnTo>
                  <a:lnTo>
                    <a:pt x="3417340" y="190805"/>
                  </a:lnTo>
                  <a:lnTo>
                    <a:pt x="3460396" y="189753"/>
                  </a:lnTo>
                  <a:lnTo>
                    <a:pt x="3501690" y="188479"/>
                  </a:lnTo>
                  <a:lnTo>
                    <a:pt x="3541154" y="186973"/>
                  </a:lnTo>
                  <a:lnTo>
                    <a:pt x="3614330" y="183232"/>
                  </a:lnTo>
                  <a:lnTo>
                    <a:pt x="3679391" y="178466"/>
                  </a:lnTo>
                  <a:lnTo>
                    <a:pt x="3735806" y="172608"/>
                  </a:lnTo>
                  <a:lnTo>
                    <a:pt x="3783041" y="165592"/>
                  </a:lnTo>
                  <a:lnTo>
                    <a:pt x="3820566" y="157353"/>
                  </a:lnTo>
                  <a:lnTo>
                    <a:pt x="3864210" y="144609"/>
                  </a:lnTo>
                  <a:lnTo>
                    <a:pt x="3897676" y="121002"/>
                  </a:lnTo>
                  <a:lnTo>
                    <a:pt x="3921778" y="88032"/>
                  </a:lnTo>
                  <a:lnTo>
                    <a:pt x="3937328" y="47198"/>
                  </a:lnTo>
                  <a:lnTo>
                    <a:pt x="3945140" y="0"/>
                  </a:lnTo>
                  <a:lnTo>
                    <a:pt x="3954315" y="51319"/>
                  </a:lnTo>
                  <a:lnTo>
                    <a:pt x="3972938" y="95338"/>
                  </a:lnTo>
                  <a:lnTo>
                    <a:pt x="3999430" y="129433"/>
                  </a:lnTo>
                  <a:lnTo>
                    <a:pt x="4032211" y="150979"/>
                  </a:lnTo>
                  <a:lnTo>
                    <a:pt x="4069702" y="157353"/>
                  </a:lnTo>
                  <a:lnTo>
                    <a:pt x="4130330" y="155610"/>
                  </a:lnTo>
                  <a:lnTo>
                    <a:pt x="4190367" y="154050"/>
                  </a:lnTo>
                  <a:lnTo>
                    <a:pt x="4249826" y="152667"/>
                  </a:lnTo>
                  <a:lnTo>
                    <a:pt x="4308722" y="151454"/>
                  </a:lnTo>
                  <a:lnTo>
                    <a:pt x="4367066" y="150406"/>
                  </a:lnTo>
                  <a:lnTo>
                    <a:pt x="4424872" y="149517"/>
                  </a:lnTo>
                  <a:lnTo>
                    <a:pt x="4482153" y="148782"/>
                  </a:lnTo>
                  <a:lnTo>
                    <a:pt x="4538924" y="148195"/>
                  </a:lnTo>
                  <a:lnTo>
                    <a:pt x="4595196" y="147750"/>
                  </a:lnTo>
                  <a:lnTo>
                    <a:pt x="4650983" y="147441"/>
                  </a:lnTo>
                  <a:lnTo>
                    <a:pt x="4706298" y="147264"/>
                  </a:lnTo>
                  <a:lnTo>
                    <a:pt x="4761155" y="147211"/>
                  </a:lnTo>
                  <a:lnTo>
                    <a:pt x="4815567" y="147278"/>
                  </a:lnTo>
                  <a:lnTo>
                    <a:pt x="4869546" y="147458"/>
                  </a:lnTo>
                  <a:lnTo>
                    <a:pt x="4923107" y="147747"/>
                  </a:lnTo>
                  <a:lnTo>
                    <a:pt x="4976263" y="148138"/>
                  </a:lnTo>
                  <a:lnTo>
                    <a:pt x="5029026" y="148625"/>
                  </a:lnTo>
                  <a:lnTo>
                    <a:pt x="5081410" y="149203"/>
                  </a:lnTo>
                  <a:lnTo>
                    <a:pt x="5133428" y="149867"/>
                  </a:lnTo>
                  <a:lnTo>
                    <a:pt x="5185094" y="150610"/>
                  </a:lnTo>
                  <a:lnTo>
                    <a:pt x="5236420" y="151426"/>
                  </a:lnTo>
                  <a:lnTo>
                    <a:pt x="5287420" y="152311"/>
                  </a:lnTo>
                  <a:lnTo>
                    <a:pt x="5338108" y="153258"/>
                  </a:lnTo>
                  <a:lnTo>
                    <a:pt x="5388495" y="154262"/>
                  </a:lnTo>
                  <a:lnTo>
                    <a:pt x="5438596" y="155317"/>
                  </a:lnTo>
                  <a:lnTo>
                    <a:pt x="5488425" y="156417"/>
                  </a:lnTo>
                  <a:lnTo>
                    <a:pt x="5537993" y="157557"/>
                  </a:lnTo>
                  <a:lnTo>
                    <a:pt x="5587314" y="158730"/>
                  </a:lnTo>
                  <a:lnTo>
                    <a:pt x="5636402" y="159932"/>
                  </a:lnTo>
                  <a:lnTo>
                    <a:pt x="5685270" y="161156"/>
                  </a:lnTo>
                  <a:lnTo>
                    <a:pt x="5733931" y="162397"/>
                  </a:lnTo>
                  <a:lnTo>
                    <a:pt x="5782397" y="163649"/>
                  </a:lnTo>
                  <a:lnTo>
                    <a:pt x="5830684" y="164907"/>
                  </a:lnTo>
                  <a:lnTo>
                    <a:pt x="5878803" y="166164"/>
                  </a:lnTo>
                  <a:lnTo>
                    <a:pt x="5926768" y="167415"/>
                  </a:lnTo>
                  <a:lnTo>
                    <a:pt x="5974592" y="168654"/>
                  </a:lnTo>
                  <a:lnTo>
                    <a:pt x="6022289" y="169876"/>
                  </a:lnTo>
                  <a:lnTo>
                    <a:pt x="6069871" y="171074"/>
                  </a:lnTo>
                  <a:lnTo>
                    <a:pt x="6117352" y="172244"/>
                  </a:lnTo>
                  <a:lnTo>
                    <a:pt x="6164746" y="173380"/>
                  </a:lnTo>
                  <a:lnTo>
                    <a:pt x="6212064" y="174475"/>
                  </a:lnTo>
                  <a:lnTo>
                    <a:pt x="6259321" y="175524"/>
                  </a:lnTo>
                  <a:lnTo>
                    <a:pt x="6306530" y="176521"/>
                  </a:lnTo>
                  <a:lnTo>
                    <a:pt x="6353704" y="177461"/>
                  </a:lnTo>
                  <a:lnTo>
                    <a:pt x="6400857" y="178338"/>
                  </a:lnTo>
                  <a:lnTo>
                    <a:pt x="6448000" y="179147"/>
                  </a:lnTo>
                  <a:lnTo>
                    <a:pt x="6495149" y="179881"/>
                  </a:lnTo>
                  <a:lnTo>
                    <a:pt x="6542316" y="180534"/>
                  </a:lnTo>
                  <a:lnTo>
                    <a:pt x="6589513" y="181102"/>
                  </a:lnTo>
                  <a:lnTo>
                    <a:pt x="6636756" y="181578"/>
                  </a:lnTo>
                  <a:lnTo>
                    <a:pt x="6684056" y="181957"/>
                  </a:lnTo>
                  <a:lnTo>
                    <a:pt x="6731426" y="182233"/>
                  </a:lnTo>
                  <a:lnTo>
                    <a:pt x="6778881" y="182401"/>
                  </a:lnTo>
                  <a:lnTo>
                    <a:pt x="6826434" y="182454"/>
                  </a:lnTo>
                  <a:lnTo>
                    <a:pt x="6874097" y="182387"/>
                  </a:lnTo>
                  <a:lnTo>
                    <a:pt x="6921884" y="182194"/>
                  </a:lnTo>
                  <a:lnTo>
                    <a:pt x="6969808" y="181870"/>
                  </a:lnTo>
                  <a:lnTo>
                    <a:pt x="7017882" y="181408"/>
                  </a:lnTo>
                  <a:lnTo>
                    <a:pt x="7066120" y="180804"/>
                  </a:lnTo>
                  <a:lnTo>
                    <a:pt x="7114535" y="180051"/>
                  </a:lnTo>
                  <a:lnTo>
                    <a:pt x="7163139" y="179144"/>
                  </a:lnTo>
                  <a:lnTo>
                    <a:pt x="7211947" y="178077"/>
                  </a:lnTo>
                  <a:lnTo>
                    <a:pt x="7260972" y="176844"/>
                  </a:lnTo>
                  <a:lnTo>
                    <a:pt x="7310226" y="175440"/>
                  </a:lnTo>
                  <a:lnTo>
                    <a:pt x="7359724" y="173859"/>
                  </a:lnTo>
                  <a:lnTo>
                    <a:pt x="7409477" y="172094"/>
                  </a:lnTo>
                  <a:lnTo>
                    <a:pt x="7459500" y="170142"/>
                  </a:lnTo>
                  <a:lnTo>
                    <a:pt x="7509805" y="167995"/>
                  </a:lnTo>
                  <a:lnTo>
                    <a:pt x="7560407" y="165649"/>
                  </a:lnTo>
                  <a:lnTo>
                    <a:pt x="7611318" y="163096"/>
                  </a:lnTo>
                  <a:lnTo>
                    <a:pt x="7662551" y="160333"/>
                  </a:lnTo>
                  <a:lnTo>
                    <a:pt x="7714119" y="157353"/>
                  </a:lnTo>
                  <a:lnTo>
                    <a:pt x="7754194" y="162726"/>
                  </a:lnTo>
                  <a:lnTo>
                    <a:pt x="7788704" y="186260"/>
                  </a:lnTo>
                  <a:lnTo>
                    <a:pt x="7815635" y="222842"/>
                  </a:lnTo>
                  <a:lnTo>
                    <a:pt x="7832970" y="267361"/>
                  </a:lnTo>
                  <a:lnTo>
                    <a:pt x="7838694" y="314706"/>
                  </a:lnTo>
                </a:path>
              </a:pathLst>
            </a:custGeom>
            <a:ln w="38099">
              <a:solidFill>
                <a:srgbClr val="CC2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32247" y="6244873"/>
            <a:ext cx="68776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nb" sz="1400">
                <a:latin typeface="Arial MT"/>
                <a:cs typeface="Arial MT"/>
              </a:rPr>
              <a:t>Kniberg, Henrik. </a:t>
            </a:r>
            <a:r>
              <a:rPr lang="nb" sz="1400" b="1">
                <a:latin typeface="Arial"/>
                <a:cs typeface="Arial"/>
              </a:rPr>
              <a:t>Scrum og XP fra skyttergravene. </a:t>
            </a:r>
            <a:r>
              <a:rPr lang="nb" sz="1400">
                <a:latin typeface="Arial MT"/>
                <a:cs typeface="Arial MT"/>
              </a:rPr>
              <a:t>Hvordan vi gjør Scrum. InfoQ, (2015).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6" y="323292"/>
            <a:ext cx="7828916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dirty="0"/>
              <a:t>Hvordan koordinere flere Agile-team?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nb" sz="2400" b="0" spc="-20" dirty="0">
                <a:latin typeface="Arial MT"/>
                <a:cs typeface="Arial MT"/>
              </a:rPr>
              <a:t>LeSS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34294" y="894198"/>
            <a:ext cx="10101362" cy="5220916"/>
            <a:chOff x="1597152" y="1513332"/>
            <a:chExt cx="8997950" cy="45929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7152" y="1513332"/>
              <a:ext cx="8997695" cy="45925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85081" y="2970008"/>
              <a:ext cx="1977389" cy="1982470"/>
            </a:xfrm>
            <a:custGeom>
              <a:avLst/>
              <a:gdLst/>
              <a:ahLst/>
              <a:cxnLst/>
              <a:rect l="l" t="t" r="r" b="b"/>
              <a:pathLst>
                <a:path w="1977389" h="1982470">
                  <a:moveTo>
                    <a:pt x="0" y="988962"/>
                  </a:moveTo>
                  <a:lnTo>
                    <a:pt x="332" y="939813"/>
                  </a:lnTo>
                  <a:lnTo>
                    <a:pt x="3485" y="891234"/>
                  </a:lnTo>
                  <a:lnTo>
                    <a:pt x="9358" y="843286"/>
                  </a:lnTo>
                  <a:lnTo>
                    <a:pt x="17849" y="796029"/>
                  </a:lnTo>
                  <a:lnTo>
                    <a:pt x="28857" y="749525"/>
                  </a:lnTo>
                  <a:lnTo>
                    <a:pt x="42279" y="703834"/>
                  </a:lnTo>
                  <a:lnTo>
                    <a:pt x="58016" y="659018"/>
                  </a:lnTo>
                  <a:lnTo>
                    <a:pt x="75965" y="615136"/>
                  </a:lnTo>
                  <a:lnTo>
                    <a:pt x="96026" y="572250"/>
                  </a:lnTo>
                  <a:lnTo>
                    <a:pt x="118096" y="530421"/>
                  </a:lnTo>
                  <a:lnTo>
                    <a:pt x="142075" y="489710"/>
                  </a:lnTo>
                  <a:lnTo>
                    <a:pt x="167861" y="450177"/>
                  </a:lnTo>
                  <a:lnTo>
                    <a:pt x="195353" y="411884"/>
                  </a:lnTo>
                  <a:lnTo>
                    <a:pt x="224449" y="374890"/>
                  </a:lnTo>
                  <a:lnTo>
                    <a:pt x="255048" y="339258"/>
                  </a:lnTo>
                  <a:lnTo>
                    <a:pt x="287048" y="305048"/>
                  </a:lnTo>
                  <a:lnTo>
                    <a:pt x="320349" y="272320"/>
                  </a:lnTo>
                  <a:lnTo>
                    <a:pt x="354849" y="241136"/>
                  </a:lnTo>
                  <a:lnTo>
                    <a:pt x="390446" y="211557"/>
                  </a:lnTo>
                  <a:lnTo>
                    <a:pt x="427039" y="183643"/>
                  </a:lnTo>
                  <a:lnTo>
                    <a:pt x="464527" y="157455"/>
                  </a:lnTo>
                  <a:lnTo>
                    <a:pt x="502809" y="133054"/>
                  </a:lnTo>
                  <a:lnTo>
                    <a:pt x="541782" y="110501"/>
                  </a:lnTo>
                  <a:lnTo>
                    <a:pt x="581346" y="89857"/>
                  </a:lnTo>
                  <a:lnTo>
                    <a:pt x="621399" y="71183"/>
                  </a:lnTo>
                  <a:lnTo>
                    <a:pt x="661841" y="54539"/>
                  </a:lnTo>
                  <a:lnTo>
                    <a:pt x="702568" y="39987"/>
                  </a:lnTo>
                  <a:lnTo>
                    <a:pt x="743481" y="27586"/>
                  </a:lnTo>
                  <a:lnTo>
                    <a:pt x="784478" y="17399"/>
                  </a:lnTo>
                  <a:lnTo>
                    <a:pt x="825457" y="9486"/>
                  </a:lnTo>
                  <a:lnTo>
                    <a:pt x="866317" y="3908"/>
                  </a:lnTo>
                  <a:lnTo>
                    <a:pt x="906957" y="725"/>
                  </a:lnTo>
                  <a:lnTo>
                    <a:pt x="947275" y="0"/>
                  </a:lnTo>
                  <a:lnTo>
                    <a:pt x="987171" y="1791"/>
                  </a:lnTo>
                  <a:lnTo>
                    <a:pt x="1032852" y="4168"/>
                  </a:lnTo>
                  <a:lnTo>
                    <a:pt x="1078450" y="8565"/>
                  </a:lnTo>
                  <a:lnTo>
                    <a:pt x="1123876" y="14946"/>
                  </a:lnTo>
                  <a:lnTo>
                    <a:pt x="1169044" y="23271"/>
                  </a:lnTo>
                  <a:lnTo>
                    <a:pt x="1213868" y="33503"/>
                  </a:lnTo>
                  <a:lnTo>
                    <a:pt x="1258261" y="45605"/>
                  </a:lnTo>
                  <a:lnTo>
                    <a:pt x="1302135" y="59537"/>
                  </a:lnTo>
                  <a:lnTo>
                    <a:pt x="1345406" y="75262"/>
                  </a:lnTo>
                  <a:lnTo>
                    <a:pt x="1387985" y="92741"/>
                  </a:lnTo>
                  <a:lnTo>
                    <a:pt x="1429786" y="111938"/>
                  </a:lnTo>
                  <a:lnTo>
                    <a:pt x="1470723" y="132814"/>
                  </a:lnTo>
                  <a:lnTo>
                    <a:pt x="1510708" y="155331"/>
                  </a:lnTo>
                  <a:lnTo>
                    <a:pt x="1549656" y="179450"/>
                  </a:lnTo>
                  <a:lnTo>
                    <a:pt x="1587479" y="205135"/>
                  </a:lnTo>
                  <a:lnTo>
                    <a:pt x="1624091" y="232346"/>
                  </a:lnTo>
                  <a:lnTo>
                    <a:pt x="1659405" y="261047"/>
                  </a:lnTo>
                  <a:lnTo>
                    <a:pt x="1693335" y="291199"/>
                  </a:lnTo>
                  <a:lnTo>
                    <a:pt x="1725794" y="322763"/>
                  </a:lnTo>
                  <a:lnTo>
                    <a:pt x="1756694" y="355703"/>
                  </a:lnTo>
                  <a:lnTo>
                    <a:pt x="1785951" y="389979"/>
                  </a:lnTo>
                  <a:lnTo>
                    <a:pt x="1813476" y="425555"/>
                  </a:lnTo>
                  <a:lnTo>
                    <a:pt x="1839183" y="462391"/>
                  </a:lnTo>
                  <a:lnTo>
                    <a:pt x="1862987" y="500451"/>
                  </a:lnTo>
                  <a:lnTo>
                    <a:pt x="1884798" y="539696"/>
                  </a:lnTo>
                  <a:lnTo>
                    <a:pt x="1904533" y="580087"/>
                  </a:lnTo>
                  <a:lnTo>
                    <a:pt x="1922102" y="621588"/>
                  </a:lnTo>
                  <a:lnTo>
                    <a:pt x="1937421" y="664160"/>
                  </a:lnTo>
                  <a:lnTo>
                    <a:pt x="1950402" y="707765"/>
                  </a:lnTo>
                  <a:lnTo>
                    <a:pt x="1960958" y="752365"/>
                  </a:lnTo>
                  <a:lnTo>
                    <a:pt x="1969004" y="797922"/>
                  </a:lnTo>
                  <a:lnTo>
                    <a:pt x="1974451" y="844398"/>
                  </a:lnTo>
                  <a:lnTo>
                    <a:pt x="1977215" y="891756"/>
                  </a:lnTo>
                  <a:lnTo>
                    <a:pt x="1977207" y="939956"/>
                  </a:lnTo>
                  <a:lnTo>
                    <a:pt x="1974342" y="988962"/>
                  </a:lnTo>
                  <a:lnTo>
                    <a:pt x="1969193" y="1029092"/>
                  </a:lnTo>
                  <a:lnTo>
                    <a:pt x="1962164" y="1069915"/>
                  </a:lnTo>
                  <a:lnTo>
                    <a:pt x="1953297" y="1111303"/>
                  </a:lnTo>
                  <a:lnTo>
                    <a:pt x="1942631" y="1153127"/>
                  </a:lnTo>
                  <a:lnTo>
                    <a:pt x="1930207" y="1195259"/>
                  </a:lnTo>
                  <a:lnTo>
                    <a:pt x="1916066" y="1237572"/>
                  </a:lnTo>
                  <a:lnTo>
                    <a:pt x="1900247" y="1279938"/>
                  </a:lnTo>
                  <a:lnTo>
                    <a:pt x="1882792" y="1322229"/>
                  </a:lnTo>
                  <a:lnTo>
                    <a:pt x="1863741" y="1364316"/>
                  </a:lnTo>
                  <a:lnTo>
                    <a:pt x="1843134" y="1406072"/>
                  </a:lnTo>
                  <a:lnTo>
                    <a:pt x="1821012" y="1447368"/>
                  </a:lnTo>
                  <a:lnTo>
                    <a:pt x="1797415" y="1488078"/>
                  </a:lnTo>
                  <a:lnTo>
                    <a:pt x="1772385" y="1528072"/>
                  </a:lnTo>
                  <a:lnTo>
                    <a:pt x="1745960" y="1567223"/>
                  </a:lnTo>
                  <a:lnTo>
                    <a:pt x="1718183" y="1605403"/>
                  </a:lnTo>
                  <a:lnTo>
                    <a:pt x="1689093" y="1642484"/>
                  </a:lnTo>
                  <a:lnTo>
                    <a:pt x="1658731" y="1678339"/>
                  </a:lnTo>
                  <a:lnTo>
                    <a:pt x="1627137" y="1712838"/>
                  </a:lnTo>
                  <a:lnTo>
                    <a:pt x="1594352" y="1745854"/>
                  </a:lnTo>
                  <a:lnTo>
                    <a:pt x="1560416" y="1777259"/>
                  </a:lnTo>
                  <a:lnTo>
                    <a:pt x="1525370" y="1806926"/>
                  </a:lnTo>
                  <a:lnTo>
                    <a:pt x="1489254" y="1834726"/>
                  </a:lnTo>
                  <a:lnTo>
                    <a:pt x="1452110" y="1860530"/>
                  </a:lnTo>
                  <a:lnTo>
                    <a:pt x="1413976" y="1884213"/>
                  </a:lnTo>
                  <a:lnTo>
                    <a:pt x="1374894" y="1905644"/>
                  </a:lnTo>
                  <a:lnTo>
                    <a:pt x="1334905" y="1924697"/>
                  </a:lnTo>
                  <a:lnTo>
                    <a:pt x="1294048" y="1941243"/>
                  </a:lnTo>
                  <a:lnTo>
                    <a:pt x="1252365" y="1955155"/>
                  </a:lnTo>
                  <a:lnTo>
                    <a:pt x="1209895" y="1966304"/>
                  </a:lnTo>
                  <a:lnTo>
                    <a:pt x="1166680" y="1974563"/>
                  </a:lnTo>
                  <a:lnTo>
                    <a:pt x="1122759" y="1979803"/>
                  </a:lnTo>
                  <a:lnTo>
                    <a:pt x="1078174" y="1981897"/>
                  </a:lnTo>
                  <a:lnTo>
                    <a:pt x="1032964" y="1980716"/>
                  </a:lnTo>
                  <a:lnTo>
                    <a:pt x="987171" y="1976133"/>
                  </a:lnTo>
                  <a:lnTo>
                    <a:pt x="940948" y="1970793"/>
                  </a:lnTo>
                  <a:lnTo>
                    <a:pt x="895085" y="1963573"/>
                  </a:lnTo>
                  <a:lnTo>
                    <a:pt x="849646" y="1954508"/>
                  </a:lnTo>
                  <a:lnTo>
                    <a:pt x="804695" y="1943630"/>
                  </a:lnTo>
                  <a:lnTo>
                    <a:pt x="760296" y="1930973"/>
                  </a:lnTo>
                  <a:lnTo>
                    <a:pt x="716512" y="1916569"/>
                  </a:lnTo>
                  <a:lnTo>
                    <a:pt x="673406" y="1900452"/>
                  </a:lnTo>
                  <a:lnTo>
                    <a:pt x="631044" y="1882656"/>
                  </a:lnTo>
                  <a:lnTo>
                    <a:pt x="589488" y="1863213"/>
                  </a:lnTo>
                  <a:lnTo>
                    <a:pt x="548803" y="1842156"/>
                  </a:lnTo>
                  <a:lnTo>
                    <a:pt x="509052" y="1819519"/>
                  </a:lnTo>
                  <a:lnTo>
                    <a:pt x="470299" y="1795336"/>
                  </a:lnTo>
                  <a:lnTo>
                    <a:pt x="432608" y="1769638"/>
                  </a:lnTo>
                  <a:lnTo>
                    <a:pt x="396042" y="1742460"/>
                  </a:lnTo>
                  <a:lnTo>
                    <a:pt x="360666" y="1713835"/>
                  </a:lnTo>
                  <a:lnTo>
                    <a:pt x="326543" y="1683796"/>
                  </a:lnTo>
                  <a:lnTo>
                    <a:pt x="293737" y="1652376"/>
                  </a:lnTo>
                  <a:lnTo>
                    <a:pt x="262312" y="1619608"/>
                  </a:lnTo>
                  <a:lnTo>
                    <a:pt x="232331" y="1585526"/>
                  </a:lnTo>
                  <a:lnTo>
                    <a:pt x="203859" y="1550162"/>
                  </a:lnTo>
                  <a:lnTo>
                    <a:pt x="176958" y="1513551"/>
                  </a:lnTo>
                  <a:lnTo>
                    <a:pt x="151694" y="1475725"/>
                  </a:lnTo>
                  <a:lnTo>
                    <a:pt x="128129" y="1436717"/>
                  </a:lnTo>
                  <a:lnTo>
                    <a:pt x="106328" y="1396561"/>
                  </a:lnTo>
                  <a:lnTo>
                    <a:pt x="86354" y="1355290"/>
                  </a:lnTo>
                  <a:lnTo>
                    <a:pt x="68271" y="1312937"/>
                  </a:lnTo>
                  <a:lnTo>
                    <a:pt x="52143" y="1269535"/>
                  </a:lnTo>
                  <a:lnTo>
                    <a:pt x="38034" y="1225118"/>
                  </a:lnTo>
                  <a:lnTo>
                    <a:pt x="26007" y="1179718"/>
                  </a:lnTo>
                  <a:lnTo>
                    <a:pt x="16126" y="1133370"/>
                  </a:lnTo>
                  <a:lnTo>
                    <a:pt x="8456" y="1086105"/>
                  </a:lnTo>
                  <a:lnTo>
                    <a:pt x="3059" y="1037958"/>
                  </a:lnTo>
                  <a:lnTo>
                    <a:pt x="0" y="988962"/>
                  </a:lnTo>
                  <a:close/>
                </a:path>
              </a:pathLst>
            </a:custGeom>
            <a:ln w="76200">
              <a:solidFill>
                <a:srgbClr val="CC2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14650" y="3550920"/>
              <a:ext cx="1170940" cy="816610"/>
            </a:xfrm>
            <a:custGeom>
              <a:avLst/>
              <a:gdLst/>
              <a:ahLst/>
              <a:cxnLst/>
              <a:rect l="l" t="t" r="r" b="b"/>
              <a:pathLst>
                <a:path w="1170939" h="816610">
                  <a:moveTo>
                    <a:pt x="762381" y="0"/>
                  </a:moveTo>
                  <a:lnTo>
                    <a:pt x="762381" y="204025"/>
                  </a:lnTo>
                  <a:lnTo>
                    <a:pt x="0" y="204025"/>
                  </a:lnTo>
                  <a:lnTo>
                    <a:pt x="0" y="612076"/>
                  </a:lnTo>
                  <a:lnTo>
                    <a:pt x="762381" y="612076"/>
                  </a:lnTo>
                  <a:lnTo>
                    <a:pt x="762381" y="816102"/>
                  </a:lnTo>
                  <a:lnTo>
                    <a:pt x="1170432" y="408051"/>
                  </a:lnTo>
                  <a:lnTo>
                    <a:pt x="762381" y="0"/>
                  </a:lnTo>
                  <a:close/>
                </a:path>
              </a:pathLst>
            </a:custGeom>
            <a:solidFill>
              <a:srgbClr val="CC2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67475" y="6115114"/>
            <a:ext cx="12706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1400" u="sng" spc="-10">
                <a:solidFill>
                  <a:srgbClr val="38455D"/>
                </a:solidFill>
                <a:uFill>
                  <a:solidFill>
                    <a:srgbClr val="38455D"/>
                  </a:solidFill>
                </a:uFill>
                <a:latin typeface="Arial MT"/>
                <a:cs typeface="Arial MT"/>
                <a:hlinkClick r:id="rId4"/>
              </a:rPr>
              <a:t>Les mer på www.less.works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6" y="323292"/>
            <a:ext cx="7828916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dirty="0"/>
              <a:t>Hvordan koordinere flere Agile-team?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nb" sz="2400" b="0" spc="-20" dirty="0">
                <a:latin typeface="Arial MT"/>
                <a:cs typeface="Arial MT"/>
              </a:rPr>
              <a:t>SAFe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2764" y="907541"/>
            <a:ext cx="7307579" cy="54772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40742" y="6380226"/>
            <a:ext cx="30435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1400" u="sng" spc="-10">
                <a:solidFill>
                  <a:srgbClr val="38455D"/>
                </a:solidFill>
                <a:uFill>
                  <a:solidFill>
                    <a:srgbClr val="38455D"/>
                  </a:solidFill>
                </a:uFill>
                <a:latin typeface="Arial MT"/>
                <a:cs typeface="Arial MT"/>
                <a:hlinkClick r:id="rId4"/>
              </a:rPr>
              <a:t>http://www.scaledagileframework.com/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0308" y="3294885"/>
            <a:ext cx="7927340" cy="3279140"/>
            <a:chOff x="940308" y="3294885"/>
            <a:chExt cx="7927340" cy="3279140"/>
          </a:xfrm>
        </p:grpSpPr>
        <p:sp>
          <p:nvSpPr>
            <p:cNvPr id="6" name="object 6"/>
            <p:cNvSpPr/>
            <p:nvPr/>
          </p:nvSpPr>
          <p:spPr>
            <a:xfrm>
              <a:off x="2109977" y="4553444"/>
              <a:ext cx="1978025" cy="1982470"/>
            </a:xfrm>
            <a:custGeom>
              <a:avLst/>
              <a:gdLst/>
              <a:ahLst/>
              <a:cxnLst/>
              <a:rect l="l" t="t" r="r" b="b"/>
              <a:pathLst>
                <a:path w="1978025" h="1982470">
                  <a:moveTo>
                    <a:pt x="0" y="988962"/>
                  </a:moveTo>
                  <a:lnTo>
                    <a:pt x="332" y="939813"/>
                  </a:lnTo>
                  <a:lnTo>
                    <a:pt x="3485" y="891234"/>
                  </a:lnTo>
                  <a:lnTo>
                    <a:pt x="9360" y="843286"/>
                  </a:lnTo>
                  <a:lnTo>
                    <a:pt x="17854" y="796029"/>
                  </a:lnTo>
                  <a:lnTo>
                    <a:pt x="28865" y="749525"/>
                  </a:lnTo>
                  <a:lnTo>
                    <a:pt x="42293" y="703834"/>
                  </a:lnTo>
                  <a:lnTo>
                    <a:pt x="58035" y="659018"/>
                  </a:lnTo>
                  <a:lnTo>
                    <a:pt x="75991" y="615136"/>
                  </a:lnTo>
                  <a:lnTo>
                    <a:pt x="96059" y="572250"/>
                  </a:lnTo>
                  <a:lnTo>
                    <a:pt x="118138" y="530421"/>
                  </a:lnTo>
                  <a:lnTo>
                    <a:pt x="142126" y="489710"/>
                  </a:lnTo>
                  <a:lnTo>
                    <a:pt x="167921" y="450177"/>
                  </a:lnTo>
                  <a:lnTo>
                    <a:pt x="195424" y="411884"/>
                  </a:lnTo>
                  <a:lnTo>
                    <a:pt x="224531" y="374890"/>
                  </a:lnTo>
                  <a:lnTo>
                    <a:pt x="255141" y="339258"/>
                  </a:lnTo>
                  <a:lnTo>
                    <a:pt x="287154" y="305048"/>
                  </a:lnTo>
                  <a:lnTo>
                    <a:pt x="320468" y="272320"/>
                  </a:lnTo>
                  <a:lnTo>
                    <a:pt x="354981" y="241136"/>
                  </a:lnTo>
                  <a:lnTo>
                    <a:pt x="390592" y="211557"/>
                  </a:lnTo>
                  <a:lnTo>
                    <a:pt x="427200" y="183643"/>
                  </a:lnTo>
                  <a:lnTo>
                    <a:pt x="464702" y="157455"/>
                  </a:lnTo>
                  <a:lnTo>
                    <a:pt x="502999" y="133054"/>
                  </a:lnTo>
                  <a:lnTo>
                    <a:pt x="541988" y="110501"/>
                  </a:lnTo>
                  <a:lnTo>
                    <a:pt x="581567" y="89857"/>
                  </a:lnTo>
                  <a:lnTo>
                    <a:pt x="621636" y="71183"/>
                  </a:lnTo>
                  <a:lnTo>
                    <a:pt x="662093" y="54539"/>
                  </a:lnTo>
                  <a:lnTo>
                    <a:pt x="702837" y="39987"/>
                  </a:lnTo>
                  <a:lnTo>
                    <a:pt x="743766" y="27586"/>
                  </a:lnTo>
                  <a:lnTo>
                    <a:pt x="784779" y="17399"/>
                  </a:lnTo>
                  <a:lnTo>
                    <a:pt x="825774" y="9486"/>
                  </a:lnTo>
                  <a:lnTo>
                    <a:pt x="866651" y="3908"/>
                  </a:lnTo>
                  <a:lnTo>
                    <a:pt x="907307" y="725"/>
                  </a:lnTo>
                  <a:lnTo>
                    <a:pt x="947641" y="0"/>
                  </a:lnTo>
                  <a:lnTo>
                    <a:pt x="987552" y="1791"/>
                  </a:lnTo>
                  <a:lnTo>
                    <a:pt x="1033251" y="4168"/>
                  </a:lnTo>
                  <a:lnTo>
                    <a:pt x="1078867" y="8565"/>
                  </a:lnTo>
                  <a:lnTo>
                    <a:pt x="1124310" y="14946"/>
                  </a:lnTo>
                  <a:lnTo>
                    <a:pt x="1169496" y="23271"/>
                  </a:lnTo>
                  <a:lnTo>
                    <a:pt x="1214337" y="33503"/>
                  </a:lnTo>
                  <a:lnTo>
                    <a:pt x="1258747" y="45605"/>
                  </a:lnTo>
                  <a:lnTo>
                    <a:pt x="1302639" y="59537"/>
                  </a:lnTo>
                  <a:lnTo>
                    <a:pt x="1345926" y="75262"/>
                  </a:lnTo>
                  <a:lnTo>
                    <a:pt x="1388521" y="92741"/>
                  </a:lnTo>
                  <a:lnTo>
                    <a:pt x="1430338" y="111938"/>
                  </a:lnTo>
                  <a:lnTo>
                    <a:pt x="1471290" y="132814"/>
                  </a:lnTo>
                  <a:lnTo>
                    <a:pt x="1511291" y="155331"/>
                  </a:lnTo>
                  <a:lnTo>
                    <a:pt x="1550254" y="179450"/>
                  </a:lnTo>
                  <a:lnTo>
                    <a:pt x="1588091" y="205135"/>
                  </a:lnTo>
                  <a:lnTo>
                    <a:pt x="1624717" y="232346"/>
                  </a:lnTo>
                  <a:lnTo>
                    <a:pt x="1660045" y="261047"/>
                  </a:lnTo>
                  <a:lnTo>
                    <a:pt x="1693987" y="291199"/>
                  </a:lnTo>
                  <a:lnTo>
                    <a:pt x="1726458" y="322763"/>
                  </a:lnTo>
                  <a:lnTo>
                    <a:pt x="1757371" y="355703"/>
                  </a:lnTo>
                  <a:lnTo>
                    <a:pt x="1786638" y="389979"/>
                  </a:lnTo>
                  <a:lnTo>
                    <a:pt x="1814174" y="425555"/>
                  </a:lnTo>
                  <a:lnTo>
                    <a:pt x="1839891" y="462391"/>
                  </a:lnTo>
                  <a:lnTo>
                    <a:pt x="1863703" y="500451"/>
                  </a:lnTo>
                  <a:lnTo>
                    <a:pt x="1885524" y="539696"/>
                  </a:lnTo>
                  <a:lnTo>
                    <a:pt x="1905265" y="580087"/>
                  </a:lnTo>
                  <a:lnTo>
                    <a:pt x="1922842" y="621588"/>
                  </a:lnTo>
                  <a:lnTo>
                    <a:pt x="1938167" y="664160"/>
                  </a:lnTo>
                  <a:lnTo>
                    <a:pt x="1951153" y="707765"/>
                  </a:lnTo>
                  <a:lnTo>
                    <a:pt x="1961713" y="752365"/>
                  </a:lnTo>
                  <a:lnTo>
                    <a:pt x="1969762" y="797922"/>
                  </a:lnTo>
                  <a:lnTo>
                    <a:pt x="1975212" y="844398"/>
                  </a:lnTo>
                  <a:lnTo>
                    <a:pt x="1977977" y="891756"/>
                  </a:lnTo>
                  <a:lnTo>
                    <a:pt x="1977970" y="939956"/>
                  </a:lnTo>
                  <a:lnTo>
                    <a:pt x="1975104" y="988962"/>
                  </a:lnTo>
                  <a:lnTo>
                    <a:pt x="1969953" y="1029092"/>
                  </a:lnTo>
                  <a:lnTo>
                    <a:pt x="1962923" y="1069915"/>
                  </a:lnTo>
                  <a:lnTo>
                    <a:pt x="1954052" y="1111303"/>
                  </a:lnTo>
                  <a:lnTo>
                    <a:pt x="1943383" y="1153127"/>
                  </a:lnTo>
                  <a:lnTo>
                    <a:pt x="1930954" y="1195259"/>
                  </a:lnTo>
                  <a:lnTo>
                    <a:pt x="1916807" y="1237572"/>
                  </a:lnTo>
                  <a:lnTo>
                    <a:pt x="1900983" y="1279938"/>
                  </a:lnTo>
                  <a:lnTo>
                    <a:pt x="1883521" y="1322229"/>
                  </a:lnTo>
                  <a:lnTo>
                    <a:pt x="1864463" y="1364316"/>
                  </a:lnTo>
                  <a:lnTo>
                    <a:pt x="1843848" y="1406072"/>
                  </a:lnTo>
                  <a:lnTo>
                    <a:pt x="1821718" y="1447368"/>
                  </a:lnTo>
                  <a:lnTo>
                    <a:pt x="1798112" y="1488078"/>
                  </a:lnTo>
                  <a:lnTo>
                    <a:pt x="1773072" y="1528072"/>
                  </a:lnTo>
                  <a:lnTo>
                    <a:pt x="1746637" y="1567223"/>
                  </a:lnTo>
                  <a:lnTo>
                    <a:pt x="1718849" y="1605403"/>
                  </a:lnTo>
                  <a:lnTo>
                    <a:pt x="1689748" y="1642484"/>
                  </a:lnTo>
                  <a:lnTo>
                    <a:pt x="1659374" y="1678339"/>
                  </a:lnTo>
                  <a:lnTo>
                    <a:pt x="1627767" y="1712838"/>
                  </a:lnTo>
                  <a:lnTo>
                    <a:pt x="1594970" y="1745854"/>
                  </a:lnTo>
                  <a:lnTo>
                    <a:pt x="1561021" y="1777259"/>
                  </a:lnTo>
                  <a:lnTo>
                    <a:pt x="1525961" y="1806926"/>
                  </a:lnTo>
                  <a:lnTo>
                    <a:pt x="1489831" y="1834726"/>
                  </a:lnTo>
                  <a:lnTo>
                    <a:pt x="1452672" y="1860530"/>
                  </a:lnTo>
                  <a:lnTo>
                    <a:pt x="1414524" y="1884213"/>
                  </a:lnTo>
                  <a:lnTo>
                    <a:pt x="1375427" y="1905644"/>
                  </a:lnTo>
                  <a:lnTo>
                    <a:pt x="1335421" y="1924697"/>
                  </a:lnTo>
                  <a:lnTo>
                    <a:pt x="1294549" y="1941243"/>
                  </a:lnTo>
                  <a:lnTo>
                    <a:pt x="1252849" y="1955155"/>
                  </a:lnTo>
                  <a:lnTo>
                    <a:pt x="1210363" y="1966304"/>
                  </a:lnTo>
                  <a:lnTo>
                    <a:pt x="1167131" y="1974563"/>
                  </a:lnTo>
                  <a:lnTo>
                    <a:pt x="1123193" y="1979803"/>
                  </a:lnTo>
                  <a:lnTo>
                    <a:pt x="1078590" y="1981897"/>
                  </a:lnTo>
                  <a:lnTo>
                    <a:pt x="1033363" y="1980716"/>
                  </a:lnTo>
                  <a:lnTo>
                    <a:pt x="987552" y="1976133"/>
                  </a:lnTo>
                  <a:lnTo>
                    <a:pt x="941311" y="1970793"/>
                  </a:lnTo>
                  <a:lnTo>
                    <a:pt x="895432" y="1963573"/>
                  </a:lnTo>
                  <a:lnTo>
                    <a:pt x="849976" y="1954508"/>
                  </a:lnTo>
                  <a:lnTo>
                    <a:pt x="805008" y="1943630"/>
                  </a:lnTo>
                  <a:lnTo>
                    <a:pt x="760592" y="1930973"/>
                  </a:lnTo>
                  <a:lnTo>
                    <a:pt x="716791" y="1916569"/>
                  </a:lnTo>
                  <a:lnTo>
                    <a:pt x="673669" y="1900452"/>
                  </a:lnTo>
                  <a:lnTo>
                    <a:pt x="631291" y="1882656"/>
                  </a:lnTo>
                  <a:lnTo>
                    <a:pt x="589719" y="1863213"/>
                  </a:lnTo>
                  <a:lnTo>
                    <a:pt x="549019" y="1842156"/>
                  </a:lnTo>
                  <a:lnTo>
                    <a:pt x="509253" y="1819519"/>
                  </a:lnTo>
                  <a:lnTo>
                    <a:pt x="470485" y="1795336"/>
                  </a:lnTo>
                  <a:lnTo>
                    <a:pt x="432779" y="1769638"/>
                  </a:lnTo>
                  <a:lnTo>
                    <a:pt x="396199" y="1742460"/>
                  </a:lnTo>
                  <a:lnTo>
                    <a:pt x="360810" y="1713835"/>
                  </a:lnTo>
                  <a:lnTo>
                    <a:pt x="326673" y="1683796"/>
                  </a:lnTo>
                  <a:lnTo>
                    <a:pt x="293855" y="1652376"/>
                  </a:lnTo>
                  <a:lnTo>
                    <a:pt x="262417" y="1619608"/>
                  </a:lnTo>
                  <a:lnTo>
                    <a:pt x="232425" y="1585526"/>
                  </a:lnTo>
                  <a:lnTo>
                    <a:pt x="203941" y="1550162"/>
                  </a:lnTo>
                  <a:lnTo>
                    <a:pt x="177030" y="1513551"/>
                  </a:lnTo>
                  <a:lnTo>
                    <a:pt x="151756" y="1475725"/>
                  </a:lnTo>
                  <a:lnTo>
                    <a:pt x="128182" y="1436717"/>
                  </a:lnTo>
                  <a:lnTo>
                    <a:pt x="106372" y="1396561"/>
                  </a:lnTo>
                  <a:lnTo>
                    <a:pt x="86390" y="1355290"/>
                  </a:lnTo>
                  <a:lnTo>
                    <a:pt x="68300" y="1312937"/>
                  </a:lnTo>
                  <a:lnTo>
                    <a:pt x="52166" y="1269535"/>
                  </a:lnTo>
                  <a:lnTo>
                    <a:pt x="38051" y="1225118"/>
                  </a:lnTo>
                  <a:lnTo>
                    <a:pt x="26019" y="1179718"/>
                  </a:lnTo>
                  <a:lnTo>
                    <a:pt x="16134" y="1133370"/>
                  </a:lnTo>
                  <a:lnTo>
                    <a:pt x="8460" y="1086105"/>
                  </a:lnTo>
                  <a:lnTo>
                    <a:pt x="3060" y="1037958"/>
                  </a:lnTo>
                  <a:lnTo>
                    <a:pt x="0" y="988962"/>
                  </a:lnTo>
                  <a:close/>
                </a:path>
              </a:pathLst>
            </a:custGeom>
            <a:ln w="76200">
              <a:solidFill>
                <a:srgbClr val="CC2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0308" y="5134355"/>
              <a:ext cx="1169670" cy="816610"/>
            </a:xfrm>
            <a:custGeom>
              <a:avLst/>
              <a:gdLst/>
              <a:ahLst/>
              <a:cxnLst/>
              <a:rect l="l" t="t" r="r" b="b"/>
              <a:pathLst>
                <a:path w="1169670" h="816610">
                  <a:moveTo>
                    <a:pt x="761619" y="0"/>
                  </a:moveTo>
                  <a:lnTo>
                    <a:pt x="761619" y="204025"/>
                  </a:lnTo>
                  <a:lnTo>
                    <a:pt x="0" y="204025"/>
                  </a:lnTo>
                  <a:lnTo>
                    <a:pt x="0" y="612076"/>
                  </a:lnTo>
                  <a:lnTo>
                    <a:pt x="761619" y="612076"/>
                  </a:lnTo>
                  <a:lnTo>
                    <a:pt x="761619" y="816102"/>
                  </a:lnTo>
                  <a:lnTo>
                    <a:pt x="1169670" y="408051"/>
                  </a:lnTo>
                  <a:lnTo>
                    <a:pt x="761619" y="0"/>
                  </a:lnTo>
                  <a:close/>
                </a:path>
              </a:pathLst>
            </a:custGeom>
            <a:solidFill>
              <a:srgbClr val="CC2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3772" y="3332985"/>
              <a:ext cx="3796029" cy="3123565"/>
            </a:xfrm>
            <a:custGeom>
              <a:avLst/>
              <a:gdLst/>
              <a:ahLst/>
              <a:cxnLst/>
              <a:rect l="l" t="t" r="r" b="b"/>
              <a:pathLst>
                <a:path w="3796029" h="3123565">
                  <a:moveTo>
                    <a:pt x="3795522" y="1438960"/>
                  </a:moveTo>
                  <a:lnTo>
                    <a:pt x="3750912" y="1438567"/>
                  </a:lnTo>
                  <a:lnTo>
                    <a:pt x="3697020" y="1439346"/>
                  </a:lnTo>
                  <a:lnTo>
                    <a:pt x="3637719" y="1440769"/>
                  </a:lnTo>
                  <a:lnTo>
                    <a:pt x="3576883" y="1442304"/>
                  </a:lnTo>
                  <a:lnTo>
                    <a:pt x="3518388" y="1443421"/>
                  </a:lnTo>
                  <a:lnTo>
                    <a:pt x="3466107" y="1443589"/>
                  </a:lnTo>
                  <a:lnTo>
                    <a:pt x="3423916" y="1442279"/>
                  </a:lnTo>
                  <a:lnTo>
                    <a:pt x="3395687" y="1438960"/>
                  </a:lnTo>
                  <a:lnTo>
                    <a:pt x="3407065" y="1474806"/>
                  </a:lnTo>
                  <a:lnTo>
                    <a:pt x="3417394" y="1512791"/>
                  </a:lnTo>
                  <a:lnTo>
                    <a:pt x="3426707" y="1552796"/>
                  </a:lnTo>
                  <a:lnTo>
                    <a:pt x="3435035" y="1594701"/>
                  </a:lnTo>
                  <a:lnTo>
                    <a:pt x="3442408" y="1638385"/>
                  </a:lnTo>
                  <a:lnTo>
                    <a:pt x="3448859" y="1683730"/>
                  </a:lnTo>
                  <a:lnTo>
                    <a:pt x="3454418" y="1730613"/>
                  </a:lnTo>
                  <a:lnTo>
                    <a:pt x="3459119" y="1778916"/>
                  </a:lnTo>
                  <a:lnTo>
                    <a:pt x="3462990" y="1828519"/>
                  </a:lnTo>
                  <a:lnTo>
                    <a:pt x="3466065" y="1879301"/>
                  </a:lnTo>
                  <a:lnTo>
                    <a:pt x="3468375" y="1931142"/>
                  </a:lnTo>
                  <a:lnTo>
                    <a:pt x="3469950" y="1983922"/>
                  </a:lnTo>
                  <a:lnTo>
                    <a:pt x="3470823" y="2037521"/>
                  </a:lnTo>
                  <a:lnTo>
                    <a:pt x="3471024" y="2091819"/>
                  </a:lnTo>
                  <a:lnTo>
                    <a:pt x="3470586" y="2146696"/>
                  </a:lnTo>
                  <a:lnTo>
                    <a:pt x="3469539" y="2202032"/>
                  </a:lnTo>
                  <a:lnTo>
                    <a:pt x="3467916" y="2257706"/>
                  </a:lnTo>
                  <a:lnTo>
                    <a:pt x="3465747" y="2313599"/>
                  </a:lnTo>
                  <a:lnTo>
                    <a:pt x="3463063" y="2369591"/>
                  </a:lnTo>
                  <a:lnTo>
                    <a:pt x="3459897" y="2425561"/>
                  </a:lnTo>
                  <a:lnTo>
                    <a:pt x="3456280" y="2481389"/>
                  </a:lnTo>
                  <a:lnTo>
                    <a:pt x="3452243" y="2536956"/>
                  </a:lnTo>
                  <a:lnTo>
                    <a:pt x="3447817" y="2592141"/>
                  </a:lnTo>
                  <a:lnTo>
                    <a:pt x="3443034" y="2646824"/>
                  </a:lnTo>
                  <a:lnTo>
                    <a:pt x="3437926" y="2700885"/>
                  </a:lnTo>
                  <a:lnTo>
                    <a:pt x="3432523" y="2754204"/>
                  </a:lnTo>
                  <a:lnTo>
                    <a:pt x="3426858" y="2806660"/>
                  </a:lnTo>
                  <a:lnTo>
                    <a:pt x="3420961" y="2858135"/>
                  </a:lnTo>
                  <a:lnTo>
                    <a:pt x="3414864" y="2908507"/>
                  </a:lnTo>
                  <a:lnTo>
                    <a:pt x="3408598" y="2957657"/>
                  </a:lnTo>
                  <a:lnTo>
                    <a:pt x="3402196" y="3005465"/>
                  </a:lnTo>
                  <a:lnTo>
                    <a:pt x="3395687" y="3051810"/>
                  </a:lnTo>
                  <a:lnTo>
                    <a:pt x="3350088" y="3065935"/>
                  </a:lnTo>
                  <a:lnTo>
                    <a:pt x="3294994" y="3078268"/>
                  </a:lnTo>
                  <a:lnTo>
                    <a:pt x="3231022" y="3088897"/>
                  </a:lnTo>
                  <a:lnTo>
                    <a:pt x="3158787" y="3097909"/>
                  </a:lnTo>
                  <a:lnTo>
                    <a:pt x="3119764" y="3101836"/>
                  </a:lnTo>
                  <a:lnTo>
                    <a:pt x="3078907" y="3105392"/>
                  </a:lnTo>
                  <a:lnTo>
                    <a:pt x="3036292" y="3108587"/>
                  </a:lnTo>
                  <a:lnTo>
                    <a:pt x="2991997" y="3111433"/>
                  </a:lnTo>
                  <a:lnTo>
                    <a:pt x="2946099" y="3113941"/>
                  </a:lnTo>
                  <a:lnTo>
                    <a:pt x="2898674" y="3116121"/>
                  </a:lnTo>
                  <a:lnTo>
                    <a:pt x="2849801" y="3117984"/>
                  </a:lnTo>
                  <a:lnTo>
                    <a:pt x="2799555" y="3119542"/>
                  </a:lnTo>
                  <a:lnTo>
                    <a:pt x="2748014" y="3120805"/>
                  </a:lnTo>
                  <a:lnTo>
                    <a:pt x="2695255" y="3121784"/>
                  </a:lnTo>
                  <a:lnTo>
                    <a:pt x="2641355" y="3122490"/>
                  </a:lnTo>
                  <a:lnTo>
                    <a:pt x="2586391" y="3122935"/>
                  </a:lnTo>
                  <a:lnTo>
                    <a:pt x="2530440" y="3123129"/>
                  </a:lnTo>
                  <a:lnTo>
                    <a:pt x="2473579" y="3123083"/>
                  </a:lnTo>
                  <a:lnTo>
                    <a:pt x="2415885" y="3122808"/>
                  </a:lnTo>
                  <a:lnTo>
                    <a:pt x="2357436" y="3122315"/>
                  </a:lnTo>
                  <a:lnTo>
                    <a:pt x="2298308" y="3121615"/>
                  </a:lnTo>
                  <a:lnTo>
                    <a:pt x="2238578" y="3120719"/>
                  </a:lnTo>
                  <a:lnTo>
                    <a:pt x="2178323" y="3119638"/>
                  </a:lnTo>
                  <a:lnTo>
                    <a:pt x="2117621" y="3118383"/>
                  </a:lnTo>
                  <a:lnTo>
                    <a:pt x="2056548" y="3116964"/>
                  </a:lnTo>
                  <a:lnTo>
                    <a:pt x="1995182" y="3115394"/>
                  </a:lnTo>
                  <a:lnTo>
                    <a:pt x="1933599" y="3113682"/>
                  </a:lnTo>
                  <a:lnTo>
                    <a:pt x="1871877" y="3111839"/>
                  </a:lnTo>
                  <a:lnTo>
                    <a:pt x="1810093" y="3109877"/>
                  </a:lnTo>
                  <a:lnTo>
                    <a:pt x="1748323" y="3107807"/>
                  </a:lnTo>
                  <a:lnTo>
                    <a:pt x="1686644" y="3105640"/>
                  </a:lnTo>
                  <a:lnTo>
                    <a:pt x="1625135" y="3103385"/>
                  </a:lnTo>
                  <a:lnTo>
                    <a:pt x="1563871" y="3101056"/>
                  </a:lnTo>
                  <a:lnTo>
                    <a:pt x="1502930" y="3098661"/>
                  </a:lnTo>
                  <a:lnTo>
                    <a:pt x="1442389" y="3096213"/>
                  </a:lnTo>
                  <a:lnTo>
                    <a:pt x="1382324" y="3093722"/>
                  </a:lnTo>
                  <a:lnTo>
                    <a:pt x="1322814" y="3091200"/>
                  </a:lnTo>
                  <a:lnTo>
                    <a:pt x="1263935" y="3088657"/>
                  </a:lnTo>
                  <a:lnTo>
                    <a:pt x="1205763" y="3086103"/>
                  </a:lnTo>
                  <a:lnTo>
                    <a:pt x="1148377" y="3083551"/>
                  </a:lnTo>
                  <a:lnTo>
                    <a:pt x="1091853" y="3081011"/>
                  </a:lnTo>
                  <a:lnTo>
                    <a:pt x="1036268" y="3078494"/>
                  </a:lnTo>
                  <a:lnTo>
                    <a:pt x="981699" y="3076011"/>
                  </a:lnTo>
                  <a:lnTo>
                    <a:pt x="928224" y="3073573"/>
                  </a:lnTo>
                  <a:lnTo>
                    <a:pt x="875918" y="3071191"/>
                  </a:lnTo>
                  <a:lnTo>
                    <a:pt x="824861" y="3068876"/>
                  </a:lnTo>
                  <a:lnTo>
                    <a:pt x="775127" y="3066639"/>
                  </a:lnTo>
                  <a:lnTo>
                    <a:pt x="726795" y="3064490"/>
                  </a:lnTo>
                  <a:lnTo>
                    <a:pt x="679941" y="3062441"/>
                  </a:lnTo>
                  <a:lnTo>
                    <a:pt x="634643" y="3060502"/>
                  </a:lnTo>
                  <a:lnTo>
                    <a:pt x="590977" y="3058686"/>
                  </a:lnTo>
                  <a:lnTo>
                    <a:pt x="549021" y="3057001"/>
                  </a:lnTo>
                  <a:lnTo>
                    <a:pt x="508852" y="3055461"/>
                  </a:lnTo>
                  <a:lnTo>
                    <a:pt x="470546" y="3054075"/>
                  </a:lnTo>
                  <a:lnTo>
                    <a:pt x="399834" y="3051810"/>
                  </a:lnTo>
                  <a:lnTo>
                    <a:pt x="392511" y="3005236"/>
                  </a:lnTo>
                  <a:lnTo>
                    <a:pt x="386296" y="2959233"/>
                  </a:lnTo>
                  <a:lnTo>
                    <a:pt x="381125" y="2913720"/>
                  </a:lnTo>
                  <a:lnTo>
                    <a:pt x="376934" y="2868614"/>
                  </a:lnTo>
                  <a:lnTo>
                    <a:pt x="373661" y="2823834"/>
                  </a:lnTo>
                  <a:lnTo>
                    <a:pt x="371241" y="2779298"/>
                  </a:lnTo>
                  <a:lnTo>
                    <a:pt x="369610" y="2734924"/>
                  </a:lnTo>
                  <a:lnTo>
                    <a:pt x="368706" y="2690631"/>
                  </a:lnTo>
                  <a:lnTo>
                    <a:pt x="368466" y="2646336"/>
                  </a:lnTo>
                  <a:lnTo>
                    <a:pt x="368824" y="2601958"/>
                  </a:lnTo>
                  <a:lnTo>
                    <a:pt x="369719" y="2557415"/>
                  </a:lnTo>
                  <a:lnTo>
                    <a:pt x="371086" y="2512624"/>
                  </a:lnTo>
                  <a:lnTo>
                    <a:pt x="372861" y="2467505"/>
                  </a:lnTo>
                  <a:lnTo>
                    <a:pt x="374983" y="2421976"/>
                  </a:lnTo>
                  <a:lnTo>
                    <a:pt x="377386" y="2375954"/>
                  </a:lnTo>
                  <a:lnTo>
                    <a:pt x="380007" y="2329357"/>
                  </a:lnTo>
                  <a:lnTo>
                    <a:pt x="382784" y="2282105"/>
                  </a:lnTo>
                  <a:lnTo>
                    <a:pt x="385652" y="2234115"/>
                  </a:lnTo>
                  <a:lnTo>
                    <a:pt x="388547" y="2185305"/>
                  </a:lnTo>
                  <a:lnTo>
                    <a:pt x="391407" y="2135594"/>
                  </a:lnTo>
                  <a:lnTo>
                    <a:pt x="394168" y="2084899"/>
                  </a:lnTo>
                  <a:lnTo>
                    <a:pt x="396767" y="2033139"/>
                  </a:lnTo>
                  <a:lnTo>
                    <a:pt x="399139" y="1980233"/>
                  </a:lnTo>
                  <a:lnTo>
                    <a:pt x="401221" y="1926097"/>
                  </a:lnTo>
                  <a:lnTo>
                    <a:pt x="402951" y="1870651"/>
                  </a:lnTo>
                  <a:lnTo>
                    <a:pt x="404263" y="1813813"/>
                  </a:lnTo>
                  <a:lnTo>
                    <a:pt x="405096" y="1755500"/>
                  </a:lnTo>
                  <a:lnTo>
                    <a:pt x="405385" y="1695632"/>
                  </a:lnTo>
                  <a:lnTo>
                    <a:pt x="405067" y="1634125"/>
                  </a:lnTo>
                  <a:lnTo>
                    <a:pt x="404078" y="1570899"/>
                  </a:lnTo>
                  <a:lnTo>
                    <a:pt x="402354" y="1505871"/>
                  </a:lnTo>
                  <a:lnTo>
                    <a:pt x="399834" y="1438960"/>
                  </a:lnTo>
                  <a:lnTo>
                    <a:pt x="347337" y="1429389"/>
                  </a:lnTo>
                  <a:lnTo>
                    <a:pt x="298130" y="1423776"/>
                  </a:lnTo>
                  <a:lnTo>
                    <a:pt x="250926" y="1421509"/>
                  </a:lnTo>
                  <a:lnTo>
                    <a:pt x="204441" y="1421977"/>
                  </a:lnTo>
                  <a:lnTo>
                    <a:pt x="157391" y="1424568"/>
                  </a:lnTo>
                  <a:lnTo>
                    <a:pt x="108490" y="1428670"/>
                  </a:lnTo>
                  <a:lnTo>
                    <a:pt x="56455" y="1433671"/>
                  </a:lnTo>
                  <a:lnTo>
                    <a:pt x="0" y="1438960"/>
                  </a:lnTo>
                  <a:lnTo>
                    <a:pt x="39706" y="1398518"/>
                  </a:lnTo>
                  <a:lnTo>
                    <a:pt x="78600" y="1359434"/>
                  </a:lnTo>
                  <a:lnTo>
                    <a:pt x="116738" y="1321644"/>
                  </a:lnTo>
                  <a:lnTo>
                    <a:pt x="154176" y="1285089"/>
                  </a:lnTo>
                  <a:lnTo>
                    <a:pt x="190971" y="1249704"/>
                  </a:lnTo>
                  <a:lnTo>
                    <a:pt x="227179" y="1215429"/>
                  </a:lnTo>
                  <a:lnTo>
                    <a:pt x="262854" y="1182202"/>
                  </a:lnTo>
                  <a:lnTo>
                    <a:pt x="298055" y="1149959"/>
                  </a:lnTo>
                  <a:lnTo>
                    <a:pt x="332836" y="1118641"/>
                  </a:lnTo>
                  <a:lnTo>
                    <a:pt x="367253" y="1088183"/>
                  </a:lnTo>
                  <a:lnTo>
                    <a:pt x="401364" y="1058525"/>
                  </a:lnTo>
                  <a:lnTo>
                    <a:pt x="435223" y="1029604"/>
                  </a:lnTo>
                  <a:lnTo>
                    <a:pt x="468887" y="1001358"/>
                  </a:lnTo>
                  <a:lnTo>
                    <a:pt x="502412" y="973726"/>
                  </a:lnTo>
                  <a:lnTo>
                    <a:pt x="535854" y="946645"/>
                  </a:lnTo>
                  <a:lnTo>
                    <a:pt x="569270" y="920053"/>
                  </a:lnTo>
                  <a:lnTo>
                    <a:pt x="602714" y="893888"/>
                  </a:lnTo>
                  <a:lnTo>
                    <a:pt x="636244" y="868089"/>
                  </a:lnTo>
                  <a:lnTo>
                    <a:pt x="669915" y="842592"/>
                  </a:lnTo>
                  <a:lnTo>
                    <a:pt x="703784" y="817337"/>
                  </a:lnTo>
                  <a:lnTo>
                    <a:pt x="737906" y="792261"/>
                  </a:lnTo>
                  <a:lnTo>
                    <a:pt x="772338" y="767302"/>
                  </a:lnTo>
                  <a:lnTo>
                    <a:pt x="807135" y="742398"/>
                  </a:lnTo>
                  <a:lnTo>
                    <a:pt x="842354" y="717488"/>
                  </a:lnTo>
                  <a:lnTo>
                    <a:pt x="878051" y="692508"/>
                  </a:lnTo>
                  <a:lnTo>
                    <a:pt x="914282" y="667398"/>
                  </a:lnTo>
                  <a:lnTo>
                    <a:pt x="951102" y="642094"/>
                  </a:lnTo>
                  <a:lnTo>
                    <a:pt x="988569" y="616536"/>
                  </a:lnTo>
                  <a:lnTo>
                    <a:pt x="1026738" y="590660"/>
                  </a:lnTo>
                  <a:lnTo>
                    <a:pt x="1065665" y="564406"/>
                  </a:lnTo>
                  <a:lnTo>
                    <a:pt x="1105406" y="537711"/>
                  </a:lnTo>
                  <a:lnTo>
                    <a:pt x="1146018" y="510512"/>
                  </a:lnTo>
                  <a:lnTo>
                    <a:pt x="1187556" y="482749"/>
                  </a:lnTo>
                  <a:lnTo>
                    <a:pt x="1230076" y="454358"/>
                  </a:lnTo>
                  <a:lnTo>
                    <a:pt x="1273635" y="425278"/>
                  </a:lnTo>
                  <a:lnTo>
                    <a:pt x="1318289" y="395447"/>
                  </a:lnTo>
                  <a:lnTo>
                    <a:pt x="1364093" y="364804"/>
                  </a:lnTo>
                  <a:lnTo>
                    <a:pt x="1411104" y="333285"/>
                  </a:lnTo>
                  <a:lnTo>
                    <a:pt x="1459378" y="300828"/>
                  </a:lnTo>
                  <a:lnTo>
                    <a:pt x="1508971" y="267373"/>
                  </a:lnTo>
                  <a:lnTo>
                    <a:pt x="1559939" y="232856"/>
                  </a:lnTo>
                  <a:lnTo>
                    <a:pt x="1612338" y="197217"/>
                  </a:lnTo>
                  <a:lnTo>
                    <a:pt x="1666224" y="160392"/>
                  </a:lnTo>
                  <a:lnTo>
                    <a:pt x="1721653" y="122320"/>
                  </a:lnTo>
                  <a:lnTo>
                    <a:pt x="1778681" y="82938"/>
                  </a:lnTo>
                  <a:lnTo>
                    <a:pt x="1837365" y="42185"/>
                  </a:lnTo>
                  <a:lnTo>
                    <a:pt x="1897761" y="0"/>
                  </a:lnTo>
                  <a:lnTo>
                    <a:pt x="1912413" y="17519"/>
                  </a:lnTo>
                  <a:lnTo>
                    <a:pt x="1950843" y="56438"/>
                  </a:lnTo>
                  <a:lnTo>
                    <a:pt x="2000559" y="100191"/>
                  </a:lnTo>
                  <a:lnTo>
                    <a:pt x="2060505" y="148371"/>
                  </a:lnTo>
                  <a:lnTo>
                    <a:pt x="2093983" y="173994"/>
                  </a:lnTo>
                  <a:lnTo>
                    <a:pt x="2129621" y="200571"/>
                  </a:lnTo>
                  <a:lnTo>
                    <a:pt x="2167288" y="228051"/>
                  </a:lnTo>
                  <a:lnTo>
                    <a:pt x="2206851" y="256384"/>
                  </a:lnTo>
                  <a:lnTo>
                    <a:pt x="2248178" y="285518"/>
                  </a:lnTo>
                  <a:lnTo>
                    <a:pt x="2291137" y="315403"/>
                  </a:lnTo>
                  <a:lnTo>
                    <a:pt x="2335595" y="345987"/>
                  </a:lnTo>
                  <a:lnTo>
                    <a:pt x="2381421" y="377221"/>
                  </a:lnTo>
                  <a:lnTo>
                    <a:pt x="2428482" y="409052"/>
                  </a:lnTo>
                  <a:lnTo>
                    <a:pt x="2476646" y="441431"/>
                  </a:lnTo>
                  <a:lnTo>
                    <a:pt x="2525781" y="474306"/>
                  </a:lnTo>
                  <a:lnTo>
                    <a:pt x="2575754" y="507626"/>
                  </a:lnTo>
                  <a:lnTo>
                    <a:pt x="2626434" y="541341"/>
                  </a:lnTo>
                  <a:lnTo>
                    <a:pt x="2677688" y="575399"/>
                  </a:lnTo>
                  <a:lnTo>
                    <a:pt x="2729384" y="609750"/>
                  </a:lnTo>
                  <a:lnTo>
                    <a:pt x="2781389" y="644343"/>
                  </a:lnTo>
                  <a:lnTo>
                    <a:pt x="2833573" y="679127"/>
                  </a:lnTo>
                  <a:lnTo>
                    <a:pt x="2885801" y="714051"/>
                  </a:lnTo>
                  <a:lnTo>
                    <a:pt x="2937943" y="749065"/>
                  </a:lnTo>
                  <a:lnTo>
                    <a:pt x="2989866" y="784116"/>
                  </a:lnTo>
                  <a:lnTo>
                    <a:pt x="3041437" y="819155"/>
                  </a:lnTo>
                  <a:lnTo>
                    <a:pt x="3092526" y="854131"/>
                  </a:lnTo>
                  <a:lnTo>
                    <a:pt x="3142998" y="888993"/>
                  </a:lnTo>
                  <a:lnTo>
                    <a:pt x="3192723" y="923689"/>
                  </a:lnTo>
                  <a:lnTo>
                    <a:pt x="3241567" y="958169"/>
                  </a:lnTo>
                  <a:lnTo>
                    <a:pt x="3289400" y="992383"/>
                  </a:lnTo>
                  <a:lnTo>
                    <a:pt x="3336088" y="1026278"/>
                  </a:lnTo>
                  <a:lnTo>
                    <a:pt x="3381499" y="1059805"/>
                  </a:lnTo>
                  <a:lnTo>
                    <a:pt x="3425501" y="1092913"/>
                  </a:lnTo>
                  <a:lnTo>
                    <a:pt x="3467963" y="1125550"/>
                  </a:lnTo>
                  <a:lnTo>
                    <a:pt x="3508751" y="1157666"/>
                  </a:lnTo>
                  <a:lnTo>
                    <a:pt x="3547734" y="1189209"/>
                  </a:lnTo>
                  <a:lnTo>
                    <a:pt x="3584779" y="1220130"/>
                  </a:lnTo>
                  <a:lnTo>
                    <a:pt x="3619754" y="1250377"/>
                  </a:lnTo>
                  <a:lnTo>
                    <a:pt x="3652528" y="1279899"/>
                  </a:lnTo>
                  <a:lnTo>
                    <a:pt x="3682967" y="1308645"/>
                  </a:lnTo>
                  <a:lnTo>
                    <a:pt x="3710939" y="1336564"/>
                  </a:lnTo>
                  <a:lnTo>
                    <a:pt x="3758957" y="1389721"/>
                  </a:lnTo>
                  <a:lnTo>
                    <a:pt x="3778737" y="1414856"/>
                  </a:lnTo>
                  <a:lnTo>
                    <a:pt x="3795522" y="1438960"/>
                  </a:lnTo>
                  <a:close/>
                </a:path>
              </a:pathLst>
            </a:custGeom>
            <a:ln w="762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EC56D35-49C0-A50A-4EAB-2CFC0A3A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56" y="323292"/>
            <a:ext cx="7828916" cy="492443"/>
          </a:xfrm>
        </p:spPr>
        <p:txBody>
          <a:bodyPr/>
          <a:lstStyle/>
          <a:p>
            <a:r>
              <a:rPr lang="nb-NO" dirty="0" err="1"/>
              <a:t>SAFe</a:t>
            </a:r>
            <a:r>
              <a:rPr lang="nb-NO" dirty="0"/>
              <a:t> prinsipper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B5E77E16-27AC-6A97-37D2-A423A8D20696}"/>
              </a:ext>
            </a:extLst>
          </p:cNvPr>
          <p:cNvSpPr txBox="1"/>
          <p:nvPr/>
        </p:nvSpPr>
        <p:spPr>
          <a:xfrm>
            <a:off x="609600" y="1600200"/>
            <a:ext cx="10820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SAFe</a:t>
            </a:r>
            <a:r>
              <a:rPr lang="en-US" sz="2800" dirty="0"/>
              <a:t> er </a:t>
            </a:r>
            <a:r>
              <a:rPr lang="en-US" sz="2800" dirty="0" err="1"/>
              <a:t>basert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10 </a:t>
            </a:r>
            <a:r>
              <a:rPr lang="en-US" sz="2800" dirty="0" err="1"/>
              <a:t>prinsipper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Ta et </a:t>
            </a:r>
            <a:r>
              <a:rPr lang="en-US" sz="2800" dirty="0" err="1"/>
              <a:t>økonomisk</a:t>
            </a:r>
            <a:r>
              <a:rPr lang="en-US" sz="2800" dirty="0"/>
              <a:t> </a:t>
            </a:r>
            <a:r>
              <a:rPr lang="en-US" sz="2800" dirty="0" err="1"/>
              <a:t>perspektiv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Anvend</a:t>
            </a:r>
            <a:r>
              <a:rPr lang="en-US" sz="2800" dirty="0"/>
              <a:t> </a:t>
            </a:r>
            <a:r>
              <a:rPr lang="en-US" sz="2800" dirty="0" err="1"/>
              <a:t>systemtenkning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Anta </a:t>
            </a:r>
            <a:r>
              <a:rPr lang="en-US" sz="2800" dirty="0" err="1"/>
              <a:t>variasjon</a:t>
            </a:r>
            <a:r>
              <a:rPr lang="en-US" sz="2800" dirty="0"/>
              <a:t>; </a:t>
            </a:r>
            <a:r>
              <a:rPr lang="en-US" sz="2800" dirty="0" err="1"/>
              <a:t>bevar</a:t>
            </a:r>
            <a:r>
              <a:rPr lang="en-US" sz="2800" dirty="0"/>
              <a:t> </a:t>
            </a:r>
            <a:r>
              <a:rPr lang="en-US" sz="2800" dirty="0" err="1"/>
              <a:t>alternativer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Bygg</a:t>
            </a:r>
            <a:r>
              <a:rPr lang="en-US" sz="2800" dirty="0"/>
              <a:t> </a:t>
            </a:r>
            <a:r>
              <a:rPr lang="en-US" sz="2800" dirty="0" err="1"/>
              <a:t>trinnvis</a:t>
            </a:r>
            <a:r>
              <a:rPr lang="en-US" sz="2800" dirty="0"/>
              <a:t> med </a:t>
            </a:r>
            <a:r>
              <a:rPr lang="en-US" sz="2800" dirty="0" err="1"/>
              <a:t>raske</a:t>
            </a:r>
            <a:r>
              <a:rPr lang="en-US" sz="2800" dirty="0"/>
              <a:t> </a:t>
            </a:r>
            <a:r>
              <a:rPr lang="en-US" sz="2800" dirty="0" err="1"/>
              <a:t>læringssykluser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Baser </a:t>
            </a:r>
            <a:r>
              <a:rPr lang="en-US" sz="2800" dirty="0" err="1"/>
              <a:t>milepæler</a:t>
            </a:r>
            <a:r>
              <a:rPr lang="en-US" sz="2800" dirty="0"/>
              <a:t> </a:t>
            </a:r>
            <a:r>
              <a:rPr lang="en-US" sz="2800" dirty="0" err="1"/>
              <a:t>på</a:t>
            </a:r>
            <a:r>
              <a:rPr lang="en-US" sz="2800" dirty="0"/>
              <a:t> </a:t>
            </a:r>
            <a:r>
              <a:rPr lang="en-US" sz="2800" dirty="0" err="1"/>
              <a:t>objektiv</a:t>
            </a:r>
            <a:r>
              <a:rPr lang="en-US" sz="2800" dirty="0"/>
              <a:t> </a:t>
            </a:r>
            <a:r>
              <a:rPr lang="en-US" sz="2800" dirty="0" err="1"/>
              <a:t>evaluering</a:t>
            </a:r>
            <a:r>
              <a:rPr lang="en-US" sz="2800" dirty="0"/>
              <a:t> av </a:t>
            </a:r>
            <a:r>
              <a:rPr lang="en-US" sz="2800" dirty="0" err="1"/>
              <a:t>fungerende</a:t>
            </a:r>
            <a:r>
              <a:rPr lang="en-US" sz="2800" dirty="0"/>
              <a:t> </a:t>
            </a:r>
            <a:r>
              <a:rPr lang="en-US" sz="2800" dirty="0" err="1"/>
              <a:t>systemer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Visualiser</a:t>
            </a:r>
            <a:r>
              <a:rPr lang="en-US" sz="2800" dirty="0"/>
              <a:t> </a:t>
            </a:r>
            <a:r>
              <a:rPr lang="en-US" sz="2800" dirty="0" err="1"/>
              <a:t>og</a:t>
            </a:r>
            <a:r>
              <a:rPr lang="en-US" sz="2800" dirty="0"/>
              <a:t> </a:t>
            </a:r>
            <a:r>
              <a:rPr lang="en-US" sz="2800" dirty="0" err="1"/>
              <a:t>begrens</a:t>
            </a:r>
            <a:r>
              <a:rPr lang="en-US" sz="2800" dirty="0"/>
              <a:t> WIP (</a:t>
            </a:r>
            <a:r>
              <a:rPr lang="en-US" sz="2800" dirty="0" err="1"/>
              <a:t>arbeid</a:t>
            </a:r>
            <a:r>
              <a:rPr lang="en-US" sz="2800" dirty="0"/>
              <a:t> under </a:t>
            </a:r>
            <a:r>
              <a:rPr lang="en-US" sz="2800" dirty="0" err="1"/>
              <a:t>utvikling</a:t>
            </a:r>
            <a:r>
              <a:rPr lang="en-US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Organiser</a:t>
            </a:r>
            <a:r>
              <a:rPr lang="en-US" sz="2800" dirty="0"/>
              <a:t> </a:t>
            </a:r>
            <a:r>
              <a:rPr lang="en-US" sz="2800" dirty="0" err="1"/>
              <a:t>rundt</a:t>
            </a:r>
            <a:r>
              <a:rPr lang="en-US" sz="2800" dirty="0"/>
              <a:t> </a:t>
            </a:r>
            <a:r>
              <a:rPr lang="en-US" sz="2800" dirty="0" err="1"/>
              <a:t>verdi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Disse </a:t>
            </a:r>
            <a:r>
              <a:rPr lang="en-US" sz="2800" dirty="0" err="1"/>
              <a:t>prinsippene</a:t>
            </a:r>
            <a:r>
              <a:rPr lang="en-US" sz="2800" dirty="0"/>
              <a:t> er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samsvar</a:t>
            </a:r>
            <a:r>
              <a:rPr lang="en-US" sz="2800" dirty="0"/>
              <a:t> med </a:t>
            </a:r>
            <a:r>
              <a:rPr lang="en-US" sz="2800" b="1" dirty="0"/>
              <a:t>Lean- </a:t>
            </a:r>
            <a:r>
              <a:rPr lang="en-US" sz="2800" b="1" dirty="0" err="1"/>
              <a:t>og</a:t>
            </a:r>
            <a:r>
              <a:rPr lang="en-US" sz="2800" b="1" dirty="0"/>
              <a:t> Agile-</a:t>
            </a:r>
            <a:r>
              <a:rPr lang="en-US" sz="2800" b="1" dirty="0" err="1"/>
              <a:t>verdier</a:t>
            </a:r>
            <a:r>
              <a:rPr lang="en-US" sz="2800" dirty="0"/>
              <a:t>.</a:t>
            </a:r>
            <a:endParaRPr lang="nb-NO" sz="2800" dirty="0"/>
          </a:p>
        </p:txBody>
      </p:sp>
    </p:spTree>
    <p:extLst>
      <p:ext uri="{BB962C8B-B14F-4D97-AF65-F5344CB8AC3E}">
        <p14:creationId xmlns:p14="http://schemas.microsoft.com/office/powerpoint/2010/main" val="1239832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1532" y="79829"/>
            <a:ext cx="7722869" cy="68572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7992" y="1907934"/>
            <a:ext cx="923330" cy="47631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635"/>
              </a:lnSpc>
            </a:pPr>
            <a:r>
              <a:rPr lang="en-US" sz="3200" b="1" dirty="0"/>
              <a:t>Scrum Team 3D Reality Model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4400" b="0" spc="-10">
                <a:solidFill>
                  <a:srgbClr val="FFFFFF"/>
                </a:solidFill>
                <a:latin typeface="Arial MT"/>
                <a:cs typeface="Arial MT"/>
              </a:rPr>
              <a:t>Spørsmål?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92433-23C0-07BF-963B-DA4A0B23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D9AFEA-511E-1F67-5DF6-22A2C12C2CA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3049" y="2263715"/>
            <a:ext cx="451581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nb" sz="4400" b="0" spc="-10" dirty="0">
                <a:solidFill>
                  <a:srgbClr val="FFFFFF"/>
                </a:solidFill>
                <a:latin typeface="Arial MT"/>
                <a:cs typeface="Arial MT"/>
              </a:rPr>
              <a:t>Gruppeinndeling</a:t>
            </a:r>
            <a:endParaRPr sz="4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120958245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ts val="3675"/>
              </a:lnSpc>
              <a:spcBef>
                <a:spcPts val="95"/>
              </a:spcBef>
            </a:pPr>
            <a:r>
              <a:rPr lang="nb"/>
              <a:t>Angående gruppesammensetning</a:t>
            </a:r>
          </a:p>
          <a:p>
            <a:pPr marL="102235">
              <a:lnSpc>
                <a:spcPts val="3195"/>
              </a:lnSpc>
            </a:pPr>
            <a:r>
              <a:rPr lang="nb" sz="2800" b="0">
                <a:latin typeface="Arial MT"/>
                <a:cs typeface="Arial MT"/>
              </a:rPr>
              <a:t>basert på følgende kriterier: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30200" y="1668920"/>
            <a:ext cx="5468238" cy="1633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lang="nb" dirty="0"/>
              <a:t>Minimum to fra et studieprogram (ingen må være alene fra sitt studieprogram)</a:t>
            </a:r>
          </a:p>
          <a:p>
            <a:pPr marL="241300" marR="8890" indent="-228600">
              <a:lnSpc>
                <a:spcPct val="12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lang="nb" dirty="0"/>
              <a:t>Helst to (</a:t>
            </a:r>
            <a:r>
              <a:rPr lang="nb" b="1" dirty="0"/>
              <a:t>anbefaler tre</a:t>
            </a:r>
            <a:r>
              <a:rPr lang="nb" dirty="0"/>
              <a:t>) studieprogram i hver gruppe</a:t>
            </a:r>
          </a:p>
          <a:p>
            <a:pPr marL="240665" indent="-227965">
              <a:lnSpc>
                <a:spcPct val="100000"/>
              </a:lnSpc>
              <a:spcBef>
                <a:spcPts val="1670"/>
              </a:spcBef>
              <a:buChar char="•"/>
              <a:tabLst>
                <a:tab pos="240665" algn="l"/>
              </a:tabLst>
            </a:pPr>
            <a:r>
              <a:rPr lang="nb" dirty="0"/>
              <a:t>Gruppestørrelse 6-8 studenter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298982" y="1498854"/>
            <a:ext cx="6144004" cy="4248619"/>
            <a:chOff x="5878067" y="1498854"/>
            <a:chExt cx="6144004" cy="424861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2490" y="1848612"/>
              <a:ext cx="5879581" cy="38988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55785" y="4136136"/>
              <a:ext cx="1596390" cy="1597660"/>
            </a:xfrm>
            <a:custGeom>
              <a:avLst/>
              <a:gdLst/>
              <a:ahLst/>
              <a:cxnLst/>
              <a:rect l="l" t="t" r="r" b="b"/>
              <a:pathLst>
                <a:path w="1596390" h="1597660">
                  <a:moveTo>
                    <a:pt x="798195" y="0"/>
                  </a:moveTo>
                  <a:lnTo>
                    <a:pt x="749571" y="1457"/>
                  </a:lnTo>
                  <a:lnTo>
                    <a:pt x="701718" y="5773"/>
                  </a:lnTo>
                  <a:lnTo>
                    <a:pt x="654718" y="12865"/>
                  </a:lnTo>
                  <a:lnTo>
                    <a:pt x="608656" y="22650"/>
                  </a:lnTo>
                  <a:lnTo>
                    <a:pt x="563615" y="35042"/>
                  </a:lnTo>
                  <a:lnTo>
                    <a:pt x="519679" y="49960"/>
                  </a:lnTo>
                  <a:lnTo>
                    <a:pt x="476930" y="67319"/>
                  </a:lnTo>
                  <a:lnTo>
                    <a:pt x="435453" y="87036"/>
                  </a:lnTo>
                  <a:lnTo>
                    <a:pt x="395331" y="109028"/>
                  </a:lnTo>
                  <a:lnTo>
                    <a:pt x="356647" y="133210"/>
                  </a:lnTo>
                  <a:lnTo>
                    <a:pt x="319485" y="159500"/>
                  </a:lnTo>
                  <a:lnTo>
                    <a:pt x="283928" y="187813"/>
                  </a:lnTo>
                  <a:lnTo>
                    <a:pt x="250060" y="218067"/>
                  </a:lnTo>
                  <a:lnTo>
                    <a:pt x="217965" y="250178"/>
                  </a:lnTo>
                  <a:lnTo>
                    <a:pt x="187725" y="284061"/>
                  </a:lnTo>
                  <a:lnTo>
                    <a:pt x="159425" y="319635"/>
                  </a:lnTo>
                  <a:lnTo>
                    <a:pt x="133148" y="356815"/>
                  </a:lnTo>
                  <a:lnTo>
                    <a:pt x="108977" y="395517"/>
                  </a:lnTo>
                  <a:lnTo>
                    <a:pt x="86996" y="435659"/>
                  </a:lnTo>
                  <a:lnTo>
                    <a:pt x="67288" y="477156"/>
                  </a:lnTo>
                  <a:lnTo>
                    <a:pt x="49937" y="519925"/>
                  </a:lnTo>
                  <a:lnTo>
                    <a:pt x="35026" y="563882"/>
                  </a:lnTo>
                  <a:lnTo>
                    <a:pt x="22639" y="608945"/>
                  </a:lnTo>
                  <a:lnTo>
                    <a:pt x="12860" y="655029"/>
                  </a:lnTo>
                  <a:lnTo>
                    <a:pt x="5771" y="702051"/>
                  </a:lnTo>
                  <a:lnTo>
                    <a:pt x="1456" y="749928"/>
                  </a:lnTo>
                  <a:lnTo>
                    <a:pt x="0" y="798576"/>
                  </a:lnTo>
                  <a:lnTo>
                    <a:pt x="1456" y="847223"/>
                  </a:lnTo>
                  <a:lnTo>
                    <a:pt x="5697" y="894279"/>
                  </a:lnTo>
                  <a:lnTo>
                    <a:pt x="12860" y="942122"/>
                  </a:lnTo>
                  <a:lnTo>
                    <a:pt x="22639" y="988206"/>
                  </a:lnTo>
                  <a:lnTo>
                    <a:pt x="35026" y="1033269"/>
                  </a:lnTo>
                  <a:lnTo>
                    <a:pt x="49937" y="1077226"/>
                  </a:lnTo>
                  <a:lnTo>
                    <a:pt x="67288" y="1119995"/>
                  </a:lnTo>
                  <a:lnTo>
                    <a:pt x="86996" y="1161492"/>
                  </a:lnTo>
                  <a:lnTo>
                    <a:pt x="108977" y="1201634"/>
                  </a:lnTo>
                  <a:lnTo>
                    <a:pt x="133148" y="1240336"/>
                  </a:lnTo>
                  <a:lnTo>
                    <a:pt x="159425" y="1277516"/>
                  </a:lnTo>
                  <a:lnTo>
                    <a:pt x="187725" y="1313090"/>
                  </a:lnTo>
                  <a:lnTo>
                    <a:pt x="217965" y="1346973"/>
                  </a:lnTo>
                  <a:lnTo>
                    <a:pt x="250060" y="1379084"/>
                  </a:lnTo>
                  <a:lnTo>
                    <a:pt x="283928" y="1409338"/>
                  </a:lnTo>
                  <a:lnTo>
                    <a:pt x="319485" y="1437651"/>
                  </a:lnTo>
                  <a:lnTo>
                    <a:pt x="356647" y="1463941"/>
                  </a:lnTo>
                  <a:lnTo>
                    <a:pt x="395331" y="1488123"/>
                  </a:lnTo>
                  <a:lnTo>
                    <a:pt x="435453" y="1510115"/>
                  </a:lnTo>
                  <a:lnTo>
                    <a:pt x="476930" y="1529832"/>
                  </a:lnTo>
                  <a:lnTo>
                    <a:pt x="519679" y="1547191"/>
                  </a:lnTo>
                  <a:lnTo>
                    <a:pt x="563615" y="1562109"/>
                  </a:lnTo>
                  <a:lnTo>
                    <a:pt x="608656" y="1574501"/>
                  </a:lnTo>
                  <a:lnTo>
                    <a:pt x="654718" y="1584286"/>
                  </a:lnTo>
                  <a:lnTo>
                    <a:pt x="701718" y="1591378"/>
                  </a:lnTo>
                  <a:lnTo>
                    <a:pt x="749571" y="1595694"/>
                  </a:lnTo>
                  <a:lnTo>
                    <a:pt x="798195" y="1597152"/>
                  </a:lnTo>
                  <a:lnTo>
                    <a:pt x="846818" y="1595694"/>
                  </a:lnTo>
                  <a:lnTo>
                    <a:pt x="894671" y="1591378"/>
                  </a:lnTo>
                  <a:lnTo>
                    <a:pt x="941671" y="1584286"/>
                  </a:lnTo>
                  <a:lnTo>
                    <a:pt x="987733" y="1574501"/>
                  </a:lnTo>
                  <a:lnTo>
                    <a:pt x="1032774" y="1562109"/>
                  </a:lnTo>
                  <a:lnTo>
                    <a:pt x="1076710" y="1547191"/>
                  </a:lnTo>
                  <a:lnTo>
                    <a:pt x="1119459" y="1529832"/>
                  </a:lnTo>
                  <a:lnTo>
                    <a:pt x="1160936" y="1510115"/>
                  </a:lnTo>
                  <a:lnTo>
                    <a:pt x="1190992" y="1493641"/>
                  </a:lnTo>
                  <a:lnTo>
                    <a:pt x="775122" y="1493641"/>
                  </a:lnTo>
                  <a:lnTo>
                    <a:pt x="729009" y="1490583"/>
                  </a:lnTo>
                  <a:lnTo>
                    <a:pt x="683140" y="1484465"/>
                  </a:lnTo>
                  <a:lnTo>
                    <a:pt x="637676" y="1475287"/>
                  </a:lnTo>
                  <a:lnTo>
                    <a:pt x="592781" y="1463050"/>
                  </a:lnTo>
                  <a:lnTo>
                    <a:pt x="548616" y="1447753"/>
                  </a:lnTo>
                  <a:lnTo>
                    <a:pt x="505343" y="1429396"/>
                  </a:lnTo>
                  <a:lnTo>
                    <a:pt x="463125" y="1407979"/>
                  </a:lnTo>
                  <a:lnTo>
                    <a:pt x="422124" y="1383503"/>
                  </a:lnTo>
                  <a:lnTo>
                    <a:pt x="382503" y="1355967"/>
                  </a:lnTo>
                  <a:lnTo>
                    <a:pt x="344424" y="1325371"/>
                  </a:lnTo>
                  <a:lnTo>
                    <a:pt x="309423" y="1293071"/>
                  </a:lnTo>
                  <a:lnTo>
                    <a:pt x="277122" y="1258955"/>
                  </a:lnTo>
                  <a:lnTo>
                    <a:pt x="247533" y="1223168"/>
                  </a:lnTo>
                  <a:lnTo>
                    <a:pt x="220667" y="1185857"/>
                  </a:lnTo>
                  <a:lnTo>
                    <a:pt x="196533" y="1147168"/>
                  </a:lnTo>
                  <a:lnTo>
                    <a:pt x="175143" y="1107248"/>
                  </a:lnTo>
                  <a:lnTo>
                    <a:pt x="156508" y="1066241"/>
                  </a:lnTo>
                  <a:lnTo>
                    <a:pt x="140638" y="1024295"/>
                  </a:lnTo>
                  <a:lnTo>
                    <a:pt x="127545" y="981555"/>
                  </a:lnTo>
                  <a:lnTo>
                    <a:pt x="117239" y="938168"/>
                  </a:lnTo>
                  <a:lnTo>
                    <a:pt x="109731" y="894279"/>
                  </a:lnTo>
                  <a:lnTo>
                    <a:pt x="105032" y="850034"/>
                  </a:lnTo>
                  <a:lnTo>
                    <a:pt x="103152" y="805581"/>
                  </a:lnTo>
                  <a:lnTo>
                    <a:pt x="104104" y="761064"/>
                  </a:lnTo>
                  <a:lnTo>
                    <a:pt x="107897" y="716629"/>
                  </a:lnTo>
                  <a:lnTo>
                    <a:pt x="114542" y="672424"/>
                  </a:lnTo>
                  <a:lnTo>
                    <a:pt x="124051" y="628594"/>
                  </a:lnTo>
                  <a:lnTo>
                    <a:pt x="136433" y="585284"/>
                  </a:lnTo>
                  <a:lnTo>
                    <a:pt x="151701" y="542642"/>
                  </a:lnTo>
                  <a:lnTo>
                    <a:pt x="169864" y="500813"/>
                  </a:lnTo>
                  <a:lnTo>
                    <a:pt x="190933" y="459943"/>
                  </a:lnTo>
                  <a:lnTo>
                    <a:pt x="214921" y="420179"/>
                  </a:lnTo>
                  <a:lnTo>
                    <a:pt x="241836" y="381666"/>
                  </a:lnTo>
                  <a:lnTo>
                    <a:pt x="271691" y="344550"/>
                  </a:lnTo>
                  <a:lnTo>
                    <a:pt x="417095" y="344550"/>
                  </a:lnTo>
                  <a:lnTo>
                    <a:pt x="344385" y="271805"/>
                  </a:lnTo>
                  <a:lnTo>
                    <a:pt x="382463" y="241207"/>
                  </a:lnTo>
                  <a:lnTo>
                    <a:pt x="422083" y="213669"/>
                  </a:lnTo>
                  <a:lnTo>
                    <a:pt x="463082" y="189191"/>
                  </a:lnTo>
                  <a:lnTo>
                    <a:pt x="505299" y="167772"/>
                  </a:lnTo>
                  <a:lnTo>
                    <a:pt x="548571" y="149413"/>
                  </a:lnTo>
                  <a:lnTo>
                    <a:pt x="592735" y="134113"/>
                  </a:lnTo>
                  <a:lnTo>
                    <a:pt x="637630" y="121873"/>
                  </a:lnTo>
                  <a:lnTo>
                    <a:pt x="683093" y="112693"/>
                  </a:lnTo>
                  <a:lnTo>
                    <a:pt x="728962" y="106572"/>
                  </a:lnTo>
                  <a:lnTo>
                    <a:pt x="775074" y="103511"/>
                  </a:lnTo>
                  <a:lnTo>
                    <a:pt x="1190994" y="103511"/>
                  </a:lnTo>
                  <a:lnTo>
                    <a:pt x="1160936" y="87036"/>
                  </a:lnTo>
                  <a:lnTo>
                    <a:pt x="1119459" y="67319"/>
                  </a:lnTo>
                  <a:lnTo>
                    <a:pt x="1076710" y="49960"/>
                  </a:lnTo>
                  <a:lnTo>
                    <a:pt x="1032774" y="35042"/>
                  </a:lnTo>
                  <a:lnTo>
                    <a:pt x="987733" y="22650"/>
                  </a:lnTo>
                  <a:lnTo>
                    <a:pt x="941671" y="12865"/>
                  </a:lnTo>
                  <a:lnTo>
                    <a:pt x="894671" y="5773"/>
                  </a:lnTo>
                  <a:lnTo>
                    <a:pt x="846818" y="1457"/>
                  </a:lnTo>
                  <a:lnTo>
                    <a:pt x="798195" y="0"/>
                  </a:lnTo>
                  <a:close/>
                </a:path>
                <a:path w="1596390" h="1597660">
                  <a:moveTo>
                    <a:pt x="417095" y="344550"/>
                  </a:moveTo>
                  <a:lnTo>
                    <a:pt x="271691" y="344550"/>
                  </a:lnTo>
                  <a:lnTo>
                    <a:pt x="1251972" y="1325371"/>
                  </a:lnTo>
                  <a:lnTo>
                    <a:pt x="1213892" y="1355967"/>
                  </a:lnTo>
                  <a:lnTo>
                    <a:pt x="1174270" y="1383503"/>
                  </a:lnTo>
                  <a:lnTo>
                    <a:pt x="1133269" y="1407979"/>
                  </a:lnTo>
                  <a:lnTo>
                    <a:pt x="1091050" y="1429396"/>
                  </a:lnTo>
                  <a:lnTo>
                    <a:pt x="1047777" y="1447753"/>
                  </a:lnTo>
                  <a:lnTo>
                    <a:pt x="1003610" y="1463050"/>
                  </a:lnTo>
                  <a:lnTo>
                    <a:pt x="958713" y="1475287"/>
                  </a:lnTo>
                  <a:lnTo>
                    <a:pt x="913246" y="1484465"/>
                  </a:lnTo>
                  <a:lnTo>
                    <a:pt x="867366" y="1490583"/>
                  </a:lnTo>
                  <a:lnTo>
                    <a:pt x="821295" y="1493641"/>
                  </a:lnTo>
                  <a:lnTo>
                    <a:pt x="1190992" y="1493641"/>
                  </a:lnTo>
                  <a:lnTo>
                    <a:pt x="1239742" y="1463941"/>
                  </a:lnTo>
                  <a:lnTo>
                    <a:pt x="1276904" y="1437651"/>
                  </a:lnTo>
                  <a:lnTo>
                    <a:pt x="1312461" y="1409338"/>
                  </a:lnTo>
                  <a:lnTo>
                    <a:pt x="1346329" y="1379084"/>
                  </a:lnTo>
                  <a:lnTo>
                    <a:pt x="1378424" y="1346973"/>
                  </a:lnTo>
                  <a:lnTo>
                    <a:pt x="1408664" y="1313090"/>
                  </a:lnTo>
                  <a:lnTo>
                    <a:pt x="1436964" y="1277516"/>
                  </a:lnTo>
                  <a:lnTo>
                    <a:pt x="1454573" y="1252601"/>
                  </a:lnTo>
                  <a:lnTo>
                    <a:pt x="1324698" y="1252601"/>
                  </a:lnTo>
                  <a:lnTo>
                    <a:pt x="417095" y="344550"/>
                  </a:lnTo>
                  <a:close/>
                </a:path>
                <a:path w="1596390" h="1597660">
                  <a:moveTo>
                    <a:pt x="1190994" y="103511"/>
                  </a:moveTo>
                  <a:lnTo>
                    <a:pt x="821288" y="103511"/>
                  </a:lnTo>
                  <a:lnTo>
                    <a:pt x="867411" y="106572"/>
                  </a:lnTo>
                  <a:lnTo>
                    <a:pt x="913283" y="112693"/>
                  </a:lnTo>
                  <a:lnTo>
                    <a:pt x="958747" y="121873"/>
                  </a:lnTo>
                  <a:lnTo>
                    <a:pt x="1003643" y="134113"/>
                  </a:lnTo>
                  <a:lnTo>
                    <a:pt x="1047808" y="149413"/>
                  </a:lnTo>
                  <a:lnTo>
                    <a:pt x="1091080" y="167772"/>
                  </a:lnTo>
                  <a:lnTo>
                    <a:pt x="1133296" y="189191"/>
                  </a:lnTo>
                  <a:lnTo>
                    <a:pt x="1174296" y="213669"/>
                  </a:lnTo>
                  <a:lnTo>
                    <a:pt x="1213915" y="241207"/>
                  </a:lnTo>
                  <a:lnTo>
                    <a:pt x="1251993" y="271805"/>
                  </a:lnTo>
                  <a:lnTo>
                    <a:pt x="1286966" y="304080"/>
                  </a:lnTo>
                  <a:lnTo>
                    <a:pt x="1319267" y="338196"/>
                  </a:lnTo>
                  <a:lnTo>
                    <a:pt x="1348856" y="373983"/>
                  </a:lnTo>
                  <a:lnTo>
                    <a:pt x="1375722" y="411294"/>
                  </a:lnTo>
                  <a:lnTo>
                    <a:pt x="1399856" y="449983"/>
                  </a:lnTo>
                  <a:lnTo>
                    <a:pt x="1421246" y="489903"/>
                  </a:lnTo>
                  <a:lnTo>
                    <a:pt x="1439881" y="530910"/>
                  </a:lnTo>
                  <a:lnTo>
                    <a:pt x="1455751" y="572856"/>
                  </a:lnTo>
                  <a:lnTo>
                    <a:pt x="1468844" y="615596"/>
                  </a:lnTo>
                  <a:lnTo>
                    <a:pt x="1479150" y="658983"/>
                  </a:lnTo>
                  <a:lnTo>
                    <a:pt x="1486658" y="702872"/>
                  </a:lnTo>
                  <a:lnTo>
                    <a:pt x="1491357" y="747117"/>
                  </a:lnTo>
                  <a:lnTo>
                    <a:pt x="1493237" y="791570"/>
                  </a:lnTo>
                  <a:lnTo>
                    <a:pt x="1492285" y="836087"/>
                  </a:lnTo>
                  <a:lnTo>
                    <a:pt x="1488492" y="880522"/>
                  </a:lnTo>
                  <a:lnTo>
                    <a:pt x="1481847" y="924727"/>
                  </a:lnTo>
                  <a:lnTo>
                    <a:pt x="1472338" y="968557"/>
                  </a:lnTo>
                  <a:lnTo>
                    <a:pt x="1459956" y="1011867"/>
                  </a:lnTo>
                  <a:lnTo>
                    <a:pt x="1444688" y="1054509"/>
                  </a:lnTo>
                  <a:lnTo>
                    <a:pt x="1426525" y="1096338"/>
                  </a:lnTo>
                  <a:lnTo>
                    <a:pt x="1405456" y="1137208"/>
                  </a:lnTo>
                  <a:lnTo>
                    <a:pt x="1381468" y="1176972"/>
                  </a:lnTo>
                  <a:lnTo>
                    <a:pt x="1354553" y="1215485"/>
                  </a:lnTo>
                  <a:lnTo>
                    <a:pt x="1324698" y="1252601"/>
                  </a:lnTo>
                  <a:lnTo>
                    <a:pt x="1454573" y="1252601"/>
                  </a:lnTo>
                  <a:lnTo>
                    <a:pt x="1487412" y="1201634"/>
                  </a:lnTo>
                  <a:lnTo>
                    <a:pt x="1509393" y="1161492"/>
                  </a:lnTo>
                  <a:lnTo>
                    <a:pt x="1529101" y="1119995"/>
                  </a:lnTo>
                  <a:lnTo>
                    <a:pt x="1546452" y="1077226"/>
                  </a:lnTo>
                  <a:lnTo>
                    <a:pt x="1561363" y="1033269"/>
                  </a:lnTo>
                  <a:lnTo>
                    <a:pt x="1573750" y="988206"/>
                  </a:lnTo>
                  <a:lnTo>
                    <a:pt x="1583529" y="942122"/>
                  </a:lnTo>
                  <a:lnTo>
                    <a:pt x="1590618" y="895100"/>
                  </a:lnTo>
                  <a:lnTo>
                    <a:pt x="1594933" y="847223"/>
                  </a:lnTo>
                  <a:lnTo>
                    <a:pt x="1596390" y="798576"/>
                  </a:lnTo>
                  <a:lnTo>
                    <a:pt x="1594933" y="749928"/>
                  </a:lnTo>
                  <a:lnTo>
                    <a:pt x="1590692" y="702872"/>
                  </a:lnTo>
                  <a:lnTo>
                    <a:pt x="1590618" y="702051"/>
                  </a:lnTo>
                  <a:lnTo>
                    <a:pt x="1583529" y="655029"/>
                  </a:lnTo>
                  <a:lnTo>
                    <a:pt x="1573750" y="608945"/>
                  </a:lnTo>
                  <a:lnTo>
                    <a:pt x="1561363" y="563882"/>
                  </a:lnTo>
                  <a:lnTo>
                    <a:pt x="1546452" y="519925"/>
                  </a:lnTo>
                  <a:lnTo>
                    <a:pt x="1529101" y="477156"/>
                  </a:lnTo>
                  <a:lnTo>
                    <a:pt x="1509393" y="435659"/>
                  </a:lnTo>
                  <a:lnTo>
                    <a:pt x="1487412" y="395517"/>
                  </a:lnTo>
                  <a:lnTo>
                    <a:pt x="1463241" y="356815"/>
                  </a:lnTo>
                  <a:lnTo>
                    <a:pt x="1436964" y="319635"/>
                  </a:lnTo>
                  <a:lnTo>
                    <a:pt x="1408664" y="284061"/>
                  </a:lnTo>
                  <a:lnTo>
                    <a:pt x="1378424" y="250178"/>
                  </a:lnTo>
                  <a:lnTo>
                    <a:pt x="1346329" y="218067"/>
                  </a:lnTo>
                  <a:lnTo>
                    <a:pt x="1312461" y="187813"/>
                  </a:lnTo>
                  <a:lnTo>
                    <a:pt x="1276904" y="159500"/>
                  </a:lnTo>
                  <a:lnTo>
                    <a:pt x="1239742" y="133210"/>
                  </a:lnTo>
                  <a:lnTo>
                    <a:pt x="1201058" y="109028"/>
                  </a:lnTo>
                  <a:lnTo>
                    <a:pt x="1190994" y="103511"/>
                  </a:lnTo>
                  <a:close/>
                </a:path>
              </a:pathLst>
            </a:custGeom>
            <a:solidFill>
              <a:srgbClr val="CC2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48" y="1499235"/>
              <a:ext cx="1468755" cy="4242435"/>
            </a:xfrm>
            <a:custGeom>
              <a:avLst/>
              <a:gdLst/>
              <a:ahLst/>
              <a:cxnLst/>
              <a:rect l="l" t="t" r="r" b="b"/>
              <a:pathLst>
                <a:path w="1468754" h="4242435">
                  <a:moveTo>
                    <a:pt x="0" y="0"/>
                  </a:moveTo>
                  <a:lnTo>
                    <a:pt x="1468374" y="0"/>
                  </a:lnTo>
                  <a:lnTo>
                    <a:pt x="1468374" y="4242054"/>
                  </a:lnTo>
                  <a:lnTo>
                    <a:pt x="0" y="4242054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78067" y="1498854"/>
              <a:ext cx="1468755" cy="509905"/>
            </a:xfrm>
            <a:custGeom>
              <a:avLst/>
              <a:gdLst/>
              <a:ahLst/>
              <a:cxnLst/>
              <a:rect l="l" t="t" r="r" b="b"/>
              <a:pathLst>
                <a:path w="1468754" h="509905">
                  <a:moveTo>
                    <a:pt x="1468374" y="0"/>
                  </a:moveTo>
                  <a:lnTo>
                    <a:pt x="0" y="0"/>
                  </a:lnTo>
                  <a:lnTo>
                    <a:pt x="0" y="509777"/>
                  </a:lnTo>
                  <a:lnTo>
                    <a:pt x="1468374" y="509777"/>
                  </a:lnTo>
                  <a:lnTo>
                    <a:pt x="146837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40064" y="1597938"/>
            <a:ext cx="1186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nb" sz="1800" b="1">
                <a:solidFill>
                  <a:srgbClr val="FFFFFF"/>
                </a:solidFill>
                <a:latin typeface="Arial"/>
                <a:cs typeface="Arial"/>
              </a:rPr>
              <a:t>Program 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819172" y="1470660"/>
            <a:ext cx="3160395" cy="4299585"/>
            <a:chOff x="7398257" y="1470660"/>
            <a:chExt cx="3160395" cy="4299585"/>
          </a:xfrm>
        </p:grpSpPr>
        <p:sp>
          <p:nvSpPr>
            <p:cNvPr id="11" name="object 11"/>
            <p:cNvSpPr/>
            <p:nvPr/>
          </p:nvSpPr>
          <p:spPr>
            <a:xfrm>
              <a:off x="7426832" y="1499235"/>
              <a:ext cx="3103245" cy="4242435"/>
            </a:xfrm>
            <a:custGeom>
              <a:avLst/>
              <a:gdLst/>
              <a:ahLst/>
              <a:cxnLst/>
              <a:rect l="l" t="t" r="r" b="b"/>
              <a:pathLst>
                <a:path w="3103245" h="4242435">
                  <a:moveTo>
                    <a:pt x="0" y="0"/>
                  </a:moveTo>
                  <a:lnTo>
                    <a:pt x="0" y="4242054"/>
                  </a:lnTo>
                  <a:lnTo>
                    <a:pt x="1468983" y="4242054"/>
                  </a:lnTo>
                  <a:lnTo>
                    <a:pt x="1468983" y="2381504"/>
                  </a:lnTo>
                  <a:lnTo>
                    <a:pt x="3102864" y="2381504"/>
                  </a:lnTo>
                  <a:lnTo>
                    <a:pt x="3102864" y="14884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02829" y="1498854"/>
              <a:ext cx="3103245" cy="509905"/>
            </a:xfrm>
            <a:custGeom>
              <a:avLst/>
              <a:gdLst/>
              <a:ahLst/>
              <a:cxnLst/>
              <a:rect l="l" t="t" r="r" b="b"/>
              <a:pathLst>
                <a:path w="3103245" h="509905">
                  <a:moveTo>
                    <a:pt x="3102864" y="0"/>
                  </a:moveTo>
                  <a:lnTo>
                    <a:pt x="0" y="0"/>
                  </a:lnTo>
                  <a:lnTo>
                    <a:pt x="0" y="509777"/>
                  </a:lnTo>
                  <a:lnTo>
                    <a:pt x="3102864" y="509777"/>
                  </a:lnTo>
                  <a:lnTo>
                    <a:pt x="3102864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777580" y="1597938"/>
            <a:ext cx="1194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nb" sz="1800" b="1">
                <a:solidFill>
                  <a:srgbClr val="FFFFFF"/>
                </a:solidFill>
                <a:latin typeface="Arial"/>
                <a:cs typeface="Arial"/>
              </a:rPr>
              <a:t>Program 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973091" y="1498853"/>
            <a:ext cx="1469390" cy="4250690"/>
          </a:xfrm>
          <a:custGeom>
            <a:avLst/>
            <a:gdLst/>
            <a:ahLst/>
            <a:cxnLst/>
            <a:rect l="l" t="t" r="r" b="b"/>
            <a:pathLst>
              <a:path w="1469390" h="4250690">
                <a:moveTo>
                  <a:pt x="1469135" y="0"/>
                </a:moveTo>
                <a:lnTo>
                  <a:pt x="0" y="0"/>
                </a:lnTo>
                <a:lnTo>
                  <a:pt x="0" y="4250436"/>
                </a:lnTo>
                <a:lnTo>
                  <a:pt x="1469135" y="4250436"/>
                </a:lnTo>
                <a:lnTo>
                  <a:pt x="1469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7D06-6614-EC00-D033-81106359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AB3B26-59EC-B276-D4E6-72537156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56" y="323292"/>
            <a:ext cx="7828916" cy="492443"/>
          </a:xfrm>
        </p:spPr>
        <p:txBody>
          <a:bodyPr/>
          <a:lstStyle/>
          <a:p>
            <a:r>
              <a:rPr lang="nb-NO" dirty="0"/>
              <a:t>Gruppeinndeling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281D3D95-03D2-7B89-9151-8174CFE40632}"/>
              </a:ext>
            </a:extLst>
          </p:cNvPr>
          <p:cNvSpPr txBox="1"/>
          <p:nvPr/>
        </p:nvSpPr>
        <p:spPr>
          <a:xfrm>
            <a:off x="609600" y="1600200"/>
            <a:ext cx="10820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dirty="0"/>
              <a:t>Har du funnet deg gruppe og er gruppen komplett?</a:t>
            </a:r>
          </a:p>
          <a:p>
            <a:endParaRPr lang="nb-NO" sz="2800" dirty="0"/>
          </a:p>
          <a:p>
            <a:r>
              <a:rPr lang="nb-NO" sz="2800" b="1" dirty="0"/>
              <a:t>Hvis ja</a:t>
            </a:r>
            <a:r>
              <a:rPr lang="nb-NO" sz="2800" dirty="0"/>
              <a:t>; så bra, du kan forlate klasserommet. </a:t>
            </a:r>
            <a:r>
              <a:rPr lang="nb-NO" sz="2800" b="1" dirty="0"/>
              <a:t>Husk å melde </a:t>
            </a:r>
            <a:r>
              <a:rPr lang="nb-NO" sz="2800" dirty="0"/>
              <a:t>fra om gruppen i </a:t>
            </a:r>
            <a:r>
              <a:rPr lang="nb-NO" sz="2800" b="1" dirty="0"/>
              <a:t>Canvas</a:t>
            </a:r>
            <a:r>
              <a:rPr lang="nb-NO" sz="2800" dirty="0"/>
              <a:t>!</a:t>
            </a:r>
          </a:p>
          <a:p>
            <a:endParaRPr lang="nb-NO" sz="2800" dirty="0"/>
          </a:p>
          <a:p>
            <a:r>
              <a:rPr lang="nb-NO" sz="2800" b="1" dirty="0"/>
              <a:t>Hvis nei</a:t>
            </a:r>
            <a:r>
              <a:rPr lang="nb-NO" sz="2800" dirty="0"/>
              <a:t>; bli igjen i klasserommet</a:t>
            </a:r>
          </a:p>
        </p:txBody>
      </p:sp>
    </p:spTree>
    <p:extLst>
      <p:ext uri="{BB962C8B-B14F-4D97-AF65-F5344CB8AC3E}">
        <p14:creationId xmlns:p14="http://schemas.microsoft.com/office/powerpoint/2010/main" val="42873266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F389-744D-97AB-E136-F919AE20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E1ED9FA-16DA-81AF-40DF-7483569B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56" y="323292"/>
            <a:ext cx="7828916" cy="492443"/>
          </a:xfrm>
        </p:spPr>
        <p:txBody>
          <a:bodyPr/>
          <a:lstStyle/>
          <a:p>
            <a:r>
              <a:rPr lang="nb-NO" dirty="0"/>
              <a:t>Gruppeinndeling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0C887BA3-E715-C0A9-CB1C-CA5EB59B63C4}"/>
              </a:ext>
            </a:extLst>
          </p:cNvPr>
          <p:cNvSpPr txBox="1"/>
          <p:nvPr/>
        </p:nvSpPr>
        <p:spPr>
          <a:xfrm>
            <a:off x="609600" y="1600200"/>
            <a:ext cx="10820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dirty="0"/>
              <a:t>Har du en gruppe, men den er ikke komplett?</a:t>
            </a:r>
          </a:p>
          <a:p>
            <a:endParaRPr lang="nb-NO" sz="2800" dirty="0"/>
          </a:p>
          <a:p>
            <a:r>
              <a:rPr lang="nb-NO" sz="2800" b="1" dirty="0"/>
              <a:t>Hvis ja</a:t>
            </a:r>
            <a:r>
              <a:rPr lang="nb-NO" sz="2800" dirty="0"/>
              <a:t>; sett deg sammen med gruppen din. Hva mangler dere for å bli komplett?</a:t>
            </a:r>
          </a:p>
          <a:p>
            <a:endParaRPr lang="nb-NO" sz="2800" dirty="0"/>
          </a:p>
          <a:p>
            <a:r>
              <a:rPr lang="nb-NO" sz="2800" b="1" dirty="0"/>
              <a:t>Hvis nei</a:t>
            </a:r>
            <a:r>
              <a:rPr lang="nb-NO" sz="2800" dirty="0"/>
              <a:t>; se deg rundt etter grupper som trenger din bakgrunn/kompetanse, </a:t>
            </a:r>
            <a:r>
              <a:rPr lang="nb-NO" sz="2800" dirty="0" err="1"/>
              <a:t>evt</a:t>
            </a:r>
            <a:r>
              <a:rPr lang="nb-NO" sz="2800" dirty="0"/>
              <a:t> sett sammen et team av andre ledige</a:t>
            </a:r>
          </a:p>
          <a:p>
            <a:endParaRPr lang="nb-NO" sz="2800" dirty="0"/>
          </a:p>
          <a:p>
            <a:r>
              <a:rPr lang="nb-NO" sz="2800" dirty="0"/>
              <a:t>Husk at et variert team ofte er å foretrekke</a:t>
            </a:r>
          </a:p>
        </p:txBody>
      </p:sp>
    </p:spTree>
    <p:extLst>
      <p:ext uri="{BB962C8B-B14F-4D97-AF65-F5344CB8AC3E}">
        <p14:creationId xmlns:p14="http://schemas.microsoft.com/office/powerpoint/2010/main" val="3343955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1122</Words>
  <Application>Microsoft Office PowerPoint</Application>
  <PresentationFormat>Widescreen</PresentationFormat>
  <Paragraphs>200</Paragraphs>
  <Slides>36</Slides>
  <Notes>6</Notes>
  <HiddenSlides>1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36</vt:i4>
      </vt:variant>
    </vt:vector>
  </HeadingPairs>
  <TitlesOfParts>
    <vt:vector size="41" baseType="lpstr">
      <vt:lpstr>Aptos</vt:lpstr>
      <vt:lpstr>Arial</vt:lpstr>
      <vt:lpstr>Arial MT</vt:lpstr>
      <vt:lpstr>Calibri</vt:lpstr>
      <vt:lpstr>Office Theme</vt:lpstr>
      <vt:lpstr>PowerPoint-presentasjon</vt:lpstr>
      <vt:lpstr>Dagens agenda</vt:lpstr>
      <vt:lpstr>Scrum-teamstruktur Roller og ansvar</vt:lpstr>
      <vt:lpstr>Produkteier</vt:lpstr>
      <vt:lpstr>Produkteier Vendt i to retninger</vt:lpstr>
      <vt:lpstr>Eier av produktet Teamroller og ansvar</vt:lpstr>
      <vt:lpstr>Administrere økonomi Teamroller og ansvar</vt:lpstr>
      <vt:lpstr>Delta i planleggingen</vt:lpstr>
      <vt:lpstr>Backloggrooming/-rafinering Teamroller og ansvar</vt:lpstr>
      <vt:lpstr>Samarbeid med utviklerteamet Teamroller og ansvar</vt:lpstr>
      <vt:lpstr>Samarbeid med stakeholdere Teamroller og ansvar</vt:lpstr>
      <vt:lpstr>Arbeidet til en produkteier</vt:lpstr>
      <vt:lpstr>Hvem kan være produkteier? PO for ulike typer prosjekter</vt:lpstr>
      <vt:lpstr>Ett prosjekt, flere team</vt:lpstr>
      <vt:lpstr>Scrum Master</vt:lpstr>
      <vt:lpstr>Scrum Master Roller</vt:lpstr>
      <vt:lpstr>Scrum Master Ansvar</vt:lpstr>
      <vt:lpstr>Trekk ved en god Scrum Master</vt:lpstr>
      <vt:lpstr>Scrum Master, en heltidsrolle?</vt:lpstr>
      <vt:lpstr>PowerPoint-presentasjon</vt:lpstr>
      <vt:lpstr>Spørsmål</vt:lpstr>
      <vt:lpstr>Pause 15 min</vt:lpstr>
      <vt:lpstr>Utviklingsteamet</vt:lpstr>
      <vt:lpstr>Utviklerteamet Ansvar</vt:lpstr>
      <vt:lpstr>Utviklerteamet Egenskaper</vt:lpstr>
      <vt:lpstr>Mer enn ett Scrum-team</vt:lpstr>
      <vt:lpstr>Scrum av Scrums</vt:lpstr>
      <vt:lpstr>Hvordan koordinere flere Agile-team? LeSS</vt:lpstr>
      <vt:lpstr>Hvordan koordinere flere Agile-team? SAFe</vt:lpstr>
      <vt:lpstr>SAFe prinsipper</vt:lpstr>
      <vt:lpstr>PowerPoint-presentasjon</vt:lpstr>
      <vt:lpstr>Spørsmål?</vt:lpstr>
      <vt:lpstr>Gruppeinndeling</vt:lpstr>
      <vt:lpstr>Angående gruppesammensetning basert på følgende kriterier:</vt:lpstr>
      <vt:lpstr>Gruppeinndeling</vt:lpstr>
      <vt:lpstr>Gruppeinndeling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Nicolai Kjærnes</cp:lastModifiedBy>
  <cp:revision>1</cp:revision>
  <dcterms:modified xsi:type="dcterms:W3CDTF">2026-09-14T06:00:22Z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0x01010066606E0318AB3348BEAEB896DB9AF677</vt:lpwstr>
  </property>
  <property fmtid="{D5CDD505-2E9C-101B-9397-08002B2CF9AE}" pid="3" name="Created">
    <vt:filetime>2024-02-23T00:00:00Z</vt:filetime>
  </property>
  <property fmtid="{D5CDD505-2E9C-101B-9397-08002B2CF9AE}" pid="4" name="Creator">
    <vt:lpwstr>Acrobat PDFMaker 23 for PowerPoint</vt:lpwstr>
  </property>
  <property fmtid="{D5CDD505-2E9C-101B-9397-08002B2CF9AE}" pid="5" name="LastSaved">
    <vt:filetime>2025-09-26T00:00:00Z</vt:filetime>
  </property>
  <property fmtid="{D5CDD505-2E9C-101B-9397-08002B2CF9AE}" pid="6" name="Producer">
    <vt:lpwstr>Adobe PDF Library 23.8.53</vt:lpwstr>
  </property>
</Properties>
</file>